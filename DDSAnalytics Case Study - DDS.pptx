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7" r:id="rId1"/>
  </p:sldMasterIdLst>
  <p:notesMasterIdLst>
    <p:notesMasterId r:id="rId17"/>
  </p:notesMasterIdLst>
  <p:sldIdLst>
    <p:sldId id="256" r:id="rId2"/>
    <p:sldId id="257" r:id="rId3"/>
    <p:sldId id="271" r:id="rId4"/>
    <p:sldId id="259" r:id="rId5"/>
    <p:sldId id="260" r:id="rId6"/>
    <p:sldId id="261" r:id="rId7"/>
    <p:sldId id="273" r:id="rId8"/>
    <p:sldId id="274" r:id="rId9"/>
    <p:sldId id="266" r:id="rId10"/>
    <p:sldId id="272" r:id="rId11"/>
    <p:sldId id="265" r:id="rId12"/>
    <p:sldId id="268" r:id="rId13"/>
    <p:sldId id="269" r:id="rId14"/>
    <p:sldId id="270"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86270"/>
  </p:normalViewPr>
  <p:slideViewPr>
    <p:cSldViewPr snapToGrid="0">
      <p:cViewPr>
        <p:scale>
          <a:sx n="143" d="100"/>
          <a:sy n="143" d="100"/>
        </p:scale>
        <p:origin x="2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C5F28-71C2-1749-997B-03E04144B825}" type="doc">
      <dgm:prSet loTypeId="urn:microsoft.com/office/officeart/2005/8/layout/hList3" loCatId="" qsTypeId="urn:microsoft.com/office/officeart/2005/8/quickstyle/simple1" qsCatId="simple" csTypeId="urn:microsoft.com/office/officeart/2005/8/colors/accent2_2" csCatId="accent2" phldr="1"/>
      <dgm:spPr/>
      <dgm:t>
        <a:bodyPr/>
        <a:lstStyle/>
        <a:p>
          <a:endParaRPr lang="en-US"/>
        </a:p>
      </dgm:t>
    </dgm:pt>
    <dgm:pt modelId="{3188A13A-2295-9D40-A1EB-F7FAB039C061}">
      <dgm:prSet phldrT="[Text]" custT="1"/>
      <dgm:spPr/>
      <dgm:t>
        <a:bodyPr/>
        <a:lstStyle/>
        <a:p>
          <a:r>
            <a:rPr lang="en-US" sz="2800" dirty="0"/>
            <a:t>Potential Value</a:t>
          </a:r>
        </a:p>
      </dgm:t>
    </dgm:pt>
    <dgm:pt modelId="{D2A50A4C-D688-EA4B-ABE9-C6C4880C4AB5}" type="parTrans" cxnId="{FBFFD57A-0D4B-E344-BA17-96741EF9F9F4}">
      <dgm:prSet/>
      <dgm:spPr/>
      <dgm:t>
        <a:bodyPr/>
        <a:lstStyle/>
        <a:p>
          <a:endParaRPr lang="en-US"/>
        </a:p>
      </dgm:t>
    </dgm:pt>
    <dgm:pt modelId="{589971E5-BB7D-C845-AE7C-7C3F5862E824}" type="sibTrans" cxnId="{FBFFD57A-0D4B-E344-BA17-96741EF9F9F4}">
      <dgm:prSet/>
      <dgm:spPr/>
      <dgm:t>
        <a:bodyPr/>
        <a:lstStyle/>
        <a:p>
          <a:endParaRPr lang="en-US"/>
        </a:p>
      </dgm:t>
    </dgm:pt>
    <dgm:pt modelId="{7C94DF49-91EF-4F47-A728-B32E818ACCC4}">
      <dgm:prSet phldrT="[Text]"/>
      <dgm:spPr/>
      <dgm:t>
        <a:bodyPr/>
        <a:lstStyle/>
        <a:p>
          <a:r>
            <a:rPr lang="en-US" dirty="0"/>
            <a:t>64 Flagged Employees</a:t>
          </a:r>
        </a:p>
      </dgm:t>
    </dgm:pt>
    <dgm:pt modelId="{15982D29-9BD1-6B43-AFBD-04F6E0705AC7}" type="parTrans" cxnId="{9AA4B4C0-345B-2B41-8ECE-EFCB5F571C29}">
      <dgm:prSet/>
      <dgm:spPr/>
      <dgm:t>
        <a:bodyPr/>
        <a:lstStyle/>
        <a:p>
          <a:endParaRPr lang="en-US"/>
        </a:p>
      </dgm:t>
    </dgm:pt>
    <dgm:pt modelId="{D4A93E09-B055-B74D-A4CD-C668A975DC8D}" type="sibTrans" cxnId="{9AA4B4C0-345B-2B41-8ECE-EFCB5F571C29}">
      <dgm:prSet/>
      <dgm:spPr/>
      <dgm:t>
        <a:bodyPr/>
        <a:lstStyle/>
        <a:p>
          <a:endParaRPr lang="en-US"/>
        </a:p>
      </dgm:t>
    </dgm:pt>
    <dgm:pt modelId="{E8EDFD3C-2A76-0F49-BA55-626AC49CE429}">
      <dgm:prSet phldrT="[Text]"/>
      <dgm:spPr/>
      <dgm:t>
        <a:bodyPr/>
        <a:lstStyle/>
        <a:p>
          <a:r>
            <a:rPr lang="en-US" dirty="0"/>
            <a:t>$12.8K Intervention Investment</a:t>
          </a:r>
        </a:p>
      </dgm:t>
    </dgm:pt>
    <dgm:pt modelId="{840483A8-1098-594F-A0AD-B982F6397250}" type="parTrans" cxnId="{B844D4CB-2489-1146-BE4A-2493A65037CF}">
      <dgm:prSet/>
      <dgm:spPr/>
      <dgm:t>
        <a:bodyPr/>
        <a:lstStyle/>
        <a:p>
          <a:endParaRPr lang="en-US"/>
        </a:p>
      </dgm:t>
    </dgm:pt>
    <dgm:pt modelId="{AE8C1F97-4E2B-5A4A-B35A-F28ABFBEC037}" type="sibTrans" cxnId="{B844D4CB-2489-1146-BE4A-2493A65037CF}">
      <dgm:prSet/>
      <dgm:spPr/>
      <dgm:t>
        <a:bodyPr/>
        <a:lstStyle/>
        <a:p>
          <a:endParaRPr lang="en-US"/>
        </a:p>
      </dgm:t>
    </dgm:pt>
    <dgm:pt modelId="{33E21F98-402C-F244-8164-481AC42A8CCF}">
      <dgm:prSet phldrT="[Text]"/>
      <dgm:spPr/>
      <dgm:t>
        <a:bodyPr/>
        <a:lstStyle/>
        <a:p>
          <a:r>
            <a:rPr lang="en-US" dirty="0"/>
            <a:t>$2.13M Potential Net Savings</a:t>
          </a:r>
        </a:p>
      </dgm:t>
    </dgm:pt>
    <dgm:pt modelId="{3251DED4-D076-4C4A-8FA9-353F578695C7}" type="parTrans" cxnId="{EAEA11F7-0261-B548-968E-AD1A637D4DAA}">
      <dgm:prSet/>
      <dgm:spPr/>
      <dgm:t>
        <a:bodyPr/>
        <a:lstStyle/>
        <a:p>
          <a:endParaRPr lang="en-US"/>
        </a:p>
      </dgm:t>
    </dgm:pt>
    <dgm:pt modelId="{FAFB7D5D-3EDE-7C43-B4A3-4A717FDB92AB}" type="sibTrans" cxnId="{EAEA11F7-0261-B548-968E-AD1A637D4DAA}">
      <dgm:prSet/>
      <dgm:spPr/>
      <dgm:t>
        <a:bodyPr/>
        <a:lstStyle/>
        <a:p>
          <a:endParaRPr lang="en-US"/>
        </a:p>
      </dgm:t>
    </dgm:pt>
    <dgm:pt modelId="{D848906E-EBC4-4F4C-8957-89FC57B84818}">
      <dgm:prSet/>
      <dgm:spPr/>
    </dgm:pt>
    <dgm:pt modelId="{BE238220-1C3C-E74B-B97B-1274989C7D22}" type="parTrans" cxnId="{C7557E48-80E6-1048-A47D-332BCAA8A58C}">
      <dgm:prSet/>
      <dgm:spPr/>
      <dgm:t>
        <a:bodyPr/>
        <a:lstStyle/>
        <a:p>
          <a:endParaRPr lang="en-US"/>
        </a:p>
      </dgm:t>
    </dgm:pt>
    <dgm:pt modelId="{8A7B6738-4636-464C-90B1-199CC87F52C5}" type="sibTrans" cxnId="{C7557E48-80E6-1048-A47D-332BCAA8A58C}">
      <dgm:prSet/>
      <dgm:spPr/>
      <dgm:t>
        <a:bodyPr/>
        <a:lstStyle/>
        <a:p>
          <a:endParaRPr lang="en-US"/>
        </a:p>
      </dgm:t>
    </dgm:pt>
    <dgm:pt modelId="{0431DF75-BF5D-574C-A875-03D318EC282A}" type="pres">
      <dgm:prSet presAssocID="{126C5F28-71C2-1749-997B-03E04144B825}" presName="composite" presStyleCnt="0">
        <dgm:presLayoutVars>
          <dgm:chMax val="1"/>
          <dgm:dir/>
          <dgm:resizeHandles val="exact"/>
        </dgm:presLayoutVars>
      </dgm:prSet>
      <dgm:spPr/>
    </dgm:pt>
    <dgm:pt modelId="{DBA80FCB-F7B9-5D48-868E-BCD26F9F794E}" type="pres">
      <dgm:prSet presAssocID="{3188A13A-2295-9D40-A1EB-F7FAB039C061}" presName="roof" presStyleLbl="dkBgShp" presStyleIdx="0" presStyleCnt="2"/>
      <dgm:spPr/>
    </dgm:pt>
    <dgm:pt modelId="{02BBC3CC-6C18-5B47-A13E-49D89C3E2174}" type="pres">
      <dgm:prSet presAssocID="{3188A13A-2295-9D40-A1EB-F7FAB039C061}" presName="pillars" presStyleCnt="0"/>
      <dgm:spPr/>
    </dgm:pt>
    <dgm:pt modelId="{0D570D0F-2EF8-D740-B673-8401731CA07A}" type="pres">
      <dgm:prSet presAssocID="{3188A13A-2295-9D40-A1EB-F7FAB039C061}" presName="pillar1" presStyleLbl="node1" presStyleIdx="0" presStyleCnt="3">
        <dgm:presLayoutVars>
          <dgm:bulletEnabled val="1"/>
        </dgm:presLayoutVars>
      </dgm:prSet>
      <dgm:spPr/>
    </dgm:pt>
    <dgm:pt modelId="{5AB3ACAD-715C-9D44-A454-16BCD0729353}" type="pres">
      <dgm:prSet presAssocID="{E8EDFD3C-2A76-0F49-BA55-626AC49CE429}" presName="pillarX" presStyleLbl="node1" presStyleIdx="1" presStyleCnt="3">
        <dgm:presLayoutVars>
          <dgm:bulletEnabled val="1"/>
        </dgm:presLayoutVars>
      </dgm:prSet>
      <dgm:spPr/>
    </dgm:pt>
    <dgm:pt modelId="{20B790DC-588A-7343-947D-C0F21049F9FF}" type="pres">
      <dgm:prSet presAssocID="{33E21F98-402C-F244-8164-481AC42A8CCF}" presName="pillarX" presStyleLbl="node1" presStyleIdx="2" presStyleCnt="3">
        <dgm:presLayoutVars>
          <dgm:bulletEnabled val="1"/>
        </dgm:presLayoutVars>
      </dgm:prSet>
      <dgm:spPr/>
    </dgm:pt>
    <dgm:pt modelId="{037A077A-C27F-3A46-9CA5-6E623AABFF40}" type="pres">
      <dgm:prSet presAssocID="{3188A13A-2295-9D40-A1EB-F7FAB039C061}" presName="base" presStyleLbl="dkBgShp" presStyleIdx="1" presStyleCnt="2" custFlipVert="1" custScaleY="235397"/>
      <dgm:spPr/>
    </dgm:pt>
  </dgm:ptLst>
  <dgm:cxnLst>
    <dgm:cxn modelId="{21114011-4D02-194A-AA8E-FEC6CBA5F28F}" type="presOf" srcId="{3188A13A-2295-9D40-A1EB-F7FAB039C061}" destId="{DBA80FCB-F7B9-5D48-868E-BCD26F9F794E}" srcOrd="0" destOrd="0" presId="urn:microsoft.com/office/officeart/2005/8/layout/hList3"/>
    <dgm:cxn modelId="{6B1ACB2C-91DF-294C-B766-B38B9311DD54}" type="presOf" srcId="{7C94DF49-91EF-4F47-A728-B32E818ACCC4}" destId="{0D570D0F-2EF8-D740-B673-8401731CA07A}" srcOrd="0" destOrd="0" presId="urn:microsoft.com/office/officeart/2005/8/layout/hList3"/>
    <dgm:cxn modelId="{C7557E48-80E6-1048-A47D-332BCAA8A58C}" srcId="{126C5F28-71C2-1749-997B-03E04144B825}" destId="{D848906E-EBC4-4F4C-8957-89FC57B84818}" srcOrd="1" destOrd="0" parTransId="{BE238220-1C3C-E74B-B97B-1274989C7D22}" sibTransId="{8A7B6738-4636-464C-90B1-199CC87F52C5}"/>
    <dgm:cxn modelId="{2F17675E-3B5C-A14F-AEBF-1F4A1BB8720B}" type="presOf" srcId="{126C5F28-71C2-1749-997B-03E04144B825}" destId="{0431DF75-BF5D-574C-A875-03D318EC282A}" srcOrd="0" destOrd="0" presId="urn:microsoft.com/office/officeart/2005/8/layout/hList3"/>
    <dgm:cxn modelId="{FBFFD57A-0D4B-E344-BA17-96741EF9F9F4}" srcId="{126C5F28-71C2-1749-997B-03E04144B825}" destId="{3188A13A-2295-9D40-A1EB-F7FAB039C061}" srcOrd="0" destOrd="0" parTransId="{D2A50A4C-D688-EA4B-ABE9-C6C4880C4AB5}" sibTransId="{589971E5-BB7D-C845-AE7C-7C3F5862E824}"/>
    <dgm:cxn modelId="{0D97EFA0-9DA0-ED48-A0F6-BAB7035B66A7}" type="presOf" srcId="{E8EDFD3C-2A76-0F49-BA55-626AC49CE429}" destId="{5AB3ACAD-715C-9D44-A454-16BCD0729353}" srcOrd="0" destOrd="0" presId="urn:microsoft.com/office/officeart/2005/8/layout/hList3"/>
    <dgm:cxn modelId="{9AA4B4C0-345B-2B41-8ECE-EFCB5F571C29}" srcId="{3188A13A-2295-9D40-A1EB-F7FAB039C061}" destId="{7C94DF49-91EF-4F47-A728-B32E818ACCC4}" srcOrd="0" destOrd="0" parTransId="{15982D29-9BD1-6B43-AFBD-04F6E0705AC7}" sibTransId="{D4A93E09-B055-B74D-A4CD-C668A975DC8D}"/>
    <dgm:cxn modelId="{7F198EC7-7F32-BF47-A672-E2BE4634578E}" type="presOf" srcId="{33E21F98-402C-F244-8164-481AC42A8CCF}" destId="{20B790DC-588A-7343-947D-C0F21049F9FF}" srcOrd="0" destOrd="0" presId="urn:microsoft.com/office/officeart/2005/8/layout/hList3"/>
    <dgm:cxn modelId="{B844D4CB-2489-1146-BE4A-2493A65037CF}" srcId="{3188A13A-2295-9D40-A1EB-F7FAB039C061}" destId="{E8EDFD3C-2A76-0F49-BA55-626AC49CE429}" srcOrd="1" destOrd="0" parTransId="{840483A8-1098-594F-A0AD-B982F6397250}" sibTransId="{AE8C1F97-4E2B-5A4A-B35A-F28ABFBEC037}"/>
    <dgm:cxn modelId="{EAEA11F7-0261-B548-968E-AD1A637D4DAA}" srcId="{3188A13A-2295-9D40-A1EB-F7FAB039C061}" destId="{33E21F98-402C-F244-8164-481AC42A8CCF}" srcOrd="2" destOrd="0" parTransId="{3251DED4-D076-4C4A-8FA9-353F578695C7}" sibTransId="{FAFB7D5D-3EDE-7C43-B4A3-4A717FDB92AB}"/>
    <dgm:cxn modelId="{33512959-2A2F-AD4C-81F8-65B4A29444DA}" type="presParOf" srcId="{0431DF75-BF5D-574C-A875-03D318EC282A}" destId="{DBA80FCB-F7B9-5D48-868E-BCD26F9F794E}" srcOrd="0" destOrd="0" presId="urn:microsoft.com/office/officeart/2005/8/layout/hList3"/>
    <dgm:cxn modelId="{668C682F-3C62-4749-AF19-7B18AA9AB30D}" type="presParOf" srcId="{0431DF75-BF5D-574C-A875-03D318EC282A}" destId="{02BBC3CC-6C18-5B47-A13E-49D89C3E2174}" srcOrd="1" destOrd="0" presId="urn:microsoft.com/office/officeart/2005/8/layout/hList3"/>
    <dgm:cxn modelId="{90DAA671-478D-AE45-81BF-955564903D88}" type="presParOf" srcId="{02BBC3CC-6C18-5B47-A13E-49D89C3E2174}" destId="{0D570D0F-2EF8-D740-B673-8401731CA07A}" srcOrd="0" destOrd="0" presId="urn:microsoft.com/office/officeart/2005/8/layout/hList3"/>
    <dgm:cxn modelId="{B06C76D1-72A0-3940-90FD-1B45527B8662}" type="presParOf" srcId="{02BBC3CC-6C18-5B47-A13E-49D89C3E2174}" destId="{5AB3ACAD-715C-9D44-A454-16BCD0729353}" srcOrd="1" destOrd="0" presId="urn:microsoft.com/office/officeart/2005/8/layout/hList3"/>
    <dgm:cxn modelId="{785ADFA3-B729-1B47-9160-7698048D1958}" type="presParOf" srcId="{02BBC3CC-6C18-5B47-A13E-49D89C3E2174}" destId="{20B790DC-588A-7343-947D-C0F21049F9FF}" srcOrd="2" destOrd="0" presId="urn:microsoft.com/office/officeart/2005/8/layout/hList3"/>
    <dgm:cxn modelId="{2E7812A7-7F84-7047-80AD-C7A9ECBC30DC}" type="presParOf" srcId="{0431DF75-BF5D-574C-A875-03D318EC282A}" destId="{037A077A-C27F-3A46-9CA5-6E623AABFF40}" srcOrd="2" destOrd="0" presId="urn:microsoft.com/office/officeart/2005/8/layout/hList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80FCB-F7B9-5D48-868E-BCD26F9F794E}">
      <dsp:nvSpPr>
        <dsp:cNvPr id="0" name=""/>
        <dsp:cNvSpPr/>
      </dsp:nvSpPr>
      <dsp:spPr>
        <a:xfrm>
          <a:off x="0" y="-37993"/>
          <a:ext cx="7611639" cy="481046"/>
        </a:xfrm>
        <a:prstGeom prst="rect">
          <a:avLst/>
        </a:prstGeom>
        <a:solidFill>
          <a:schemeClr val="accent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Potential Value</a:t>
          </a:r>
        </a:p>
      </dsp:txBody>
      <dsp:txXfrm>
        <a:off x="0" y="-37993"/>
        <a:ext cx="7611639" cy="481046"/>
      </dsp:txXfrm>
    </dsp:sp>
    <dsp:sp modelId="{0D570D0F-2EF8-D740-B673-8401731CA07A}">
      <dsp:nvSpPr>
        <dsp:cNvPr id="0" name=""/>
        <dsp:cNvSpPr/>
      </dsp:nvSpPr>
      <dsp:spPr>
        <a:xfrm>
          <a:off x="3716" y="443052"/>
          <a:ext cx="2534735" cy="10101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64 Flagged Employees</a:t>
          </a:r>
        </a:p>
      </dsp:txBody>
      <dsp:txXfrm>
        <a:off x="3716" y="443052"/>
        <a:ext cx="2534735" cy="1010196"/>
      </dsp:txXfrm>
    </dsp:sp>
    <dsp:sp modelId="{5AB3ACAD-715C-9D44-A454-16BCD0729353}">
      <dsp:nvSpPr>
        <dsp:cNvPr id="0" name=""/>
        <dsp:cNvSpPr/>
      </dsp:nvSpPr>
      <dsp:spPr>
        <a:xfrm>
          <a:off x="2538451" y="443052"/>
          <a:ext cx="2534735" cy="10101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$12.8K Intervention Investment</a:t>
          </a:r>
        </a:p>
      </dsp:txBody>
      <dsp:txXfrm>
        <a:off x="2538451" y="443052"/>
        <a:ext cx="2534735" cy="1010196"/>
      </dsp:txXfrm>
    </dsp:sp>
    <dsp:sp modelId="{20B790DC-588A-7343-947D-C0F21049F9FF}">
      <dsp:nvSpPr>
        <dsp:cNvPr id="0" name=""/>
        <dsp:cNvSpPr/>
      </dsp:nvSpPr>
      <dsp:spPr>
        <a:xfrm>
          <a:off x="5073187" y="443052"/>
          <a:ext cx="2534735" cy="10101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$2.13M Potential Net Savings</a:t>
          </a:r>
        </a:p>
      </dsp:txBody>
      <dsp:txXfrm>
        <a:off x="5073187" y="443052"/>
        <a:ext cx="2534735" cy="1010196"/>
      </dsp:txXfrm>
    </dsp:sp>
    <dsp:sp modelId="{037A077A-C27F-3A46-9CA5-6E623AABFF40}">
      <dsp:nvSpPr>
        <dsp:cNvPr id="0" name=""/>
        <dsp:cNvSpPr/>
      </dsp:nvSpPr>
      <dsp:spPr>
        <a:xfrm flipV="1">
          <a:off x="0" y="1377261"/>
          <a:ext cx="7611639" cy="264219"/>
        </a:xfrm>
        <a:prstGeom prst="rect">
          <a:avLst/>
        </a:prstGeom>
        <a:solidFill>
          <a:schemeClr val="accent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F3B38-7C55-6245-A1E6-0EF1D947FC21}"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3DC2E2-B20B-8B4F-8800-C4D029AC8EF1}" type="slidenum">
              <a:rPr lang="en-US" smtClean="0"/>
              <a:t>‹#›</a:t>
            </a:fld>
            <a:endParaRPr lang="en-US"/>
          </a:p>
        </p:txBody>
      </p:sp>
    </p:spTree>
    <p:extLst>
      <p:ext uri="{BB962C8B-B14F-4D97-AF65-F5344CB8AC3E}">
        <p14:creationId xmlns:p14="http://schemas.microsoft.com/office/powerpoint/2010/main" val="890376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Siddhant Ankolekar, and today I'll be presenting our employee attrition analysis for Frito-Lay. The goal of this project was to identify the factors associated with employee turnover, develop a model that can predict employees at higher risk of attrition, and estimate the potential financial impact of using that model.</a:t>
            </a:r>
          </a:p>
        </p:txBody>
      </p:sp>
      <p:sp>
        <p:nvSpPr>
          <p:cNvPr id="4" name="Slide Number Placeholder 3"/>
          <p:cNvSpPr>
            <a:spLocks noGrp="1"/>
          </p:cNvSpPr>
          <p:nvPr>
            <p:ph type="sldNum" sz="quarter" idx="5"/>
          </p:nvPr>
        </p:nvSpPr>
        <p:spPr/>
        <p:txBody>
          <a:bodyPr/>
          <a:lstStyle/>
          <a:p>
            <a:fld id="{493DC2E2-B20B-8B4F-8800-C4D029AC8EF1}" type="slidenum">
              <a:rPr lang="en-US" smtClean="0"/>
              <a:t>1</a:t>
            </a:fld>
            <a:endParaRPr lang="en-US"/>
          </a:p>
        </p:txBody>
      </p:sp>
    </p:spTree>
    <p:extLst>
      <p:ext uri="{BB962C8B-B14F-4D97-AF65-F5344CB8AC3E}">
        <p14:creationId xmlns:p14="http://schemas.microsoft.com/office/powerpoint/2010/main" val="4194347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Frito-Lay asked us to answer four main questions:</a:t>
            </a:r>
          </a:p>
          <a:p>
            <a:r>
              <a:rPr lang="en-US" dirty="0"/>
              <a:t>First, what factors are associated with employee attrition? Second, can we use those factors to predict which employees are at higher risk of leaving? </a:t>
            </a:r>
          </a:p>
          <a:p>
            <a:r>
              <a:rPr lang="en-US" dirty="0"/>
              <a:t>Third, can that model meet the required minimum of 60 percent sensitivity and specificity? </a:t>
            </a:r>
          </a:p>
          <a:p>
            <a:r>
              <a:rPr lang="en-US" dirty="0"/>
              <a:t>And finally, what could the company potentially save by using the model to target retention efforts?</a:t>
            </a:r>
          </a:p>
          <a:p>
            <a:r>
              <a:rPr lang="en-US" dirty="0"/>
              <a:t>Our analysis began with 870 employees and 36 variables, with 140 employees having left, giving us an overall historical attrition rate of 16.1 percent.</a:t>
            </a:r>
          </a:p>
          <a:p>
            <a:endParaRPr lang="en-US" dirty="0"/>
          </a:p>
          <a:p>
            <a:endParaRPr lang="en-US" dirty="0"/>
          </a:p>
        </p:txBody>
      </p:sp>
      <p:sp>
        <p:nvSpPr>
          <p:cNvPr id="4" name="Slide Number Placeholder 3"/>
          <p:cNvSpPr>
            <a:spLocks noGrp="1"/>
          </p:cNvSpPr>
          <p:nvPr>
            <p:ph type="sldNum" sz="quarter" idx="5"/>
          </p:nvPr>
        </p:nvSpPr>
        <p:spPr/>
        <p:txBody>
          <a:bodyPr/>
          <a:lstStyle/>
          <a:p>
            <a:fld id="{493DC2E2-B20B-8B4F-8800-C4D029AC8EF1}" type="slidenum">
              <a:rPr lang="en-US" smtClean="0"/>
              <a:t>2</a:t>
            </a:fld>
            <a:endParaRPr lang="en-US"/>
          </a:p>
        </p:txBody>
      </p:sp>
    </p:spTree>
    <p:extLst>
      <p:ext uri="{BB962C8B-B14F-4D97-AF65-F5344CB8AC3E}">
        <p14:creationId xmlns:p14="http://schemas.microsoft.com/office/powerpoint/2010/main" val="2697903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9521-6C40-3A11-BCF4-E2D43E271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4A458-653D-794D-A591-3C2FAF07C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1DD8C-6FA2-69E4-CC9A-9AC926008C0A}"/>
              </a:ext>
            </a:extLst>
          </p:cNvPr>
          <p:cNvSpPr>
            <a:spLocks noGrp="1"/>
          </p:cNvSpPr>
          <p:nvPr>
            <p:ph type="body" idx="1"/>
          </p:nvPr>
        </p:nvSpPr>
        <p:spPr/>
        <p:txBody>
          <a:bodyPr/>
          <a:lstStyle/>
          <a:p>
            <a:r>
              <a:rPr lang="en-US" dirty="0"/>
              <a:t>The dataset contained a mix of demographic, job, satisfaction, compensation, and experience variables. We used these variables to train our model. One important characteristic is that attrition is relatively uncommon: only 16.1 percent of employees left, so the model must identify leavers without simply labeling everyone as a non-leaver. That class imbalance is important because a model could achieve high overall accuracy simply by predicting that almost everyone stays. That's why we focus later on sensitivity and specificity rather than accuracy alone.</a:t>
            </a:r>
          </a:p>
        </p:txBody>
      </p:sp>
      <p:sp>
        <p:nvSpPr>
          <p:cNvPr id="4" name="Slide Number Placeholder 3">
            <a:extLst>
              <a:ext uri="{FF2B5EF4-FFF2-40B4-BE49-F238E27FC236}">
                <a16:creationId xmlns:a16="http://schemas.microsoft.com/office/drawing/2014/main" id="{3C351B92-E1D5-601B-3E8D-87871934CE5B}"/>
              </a:ext>
            </a:extLst>
          </p:cNvPr>
          <p:cNvSpPr>
            <a:spLocks noGrp="1"/>
          </p:cNvSpPr>
          <p:nvPr>
            <p:ph type="sldNum" sz="quarter" idx="5"/>
          </p:nvPr>
        </p:nvSpPr>
        <p:spPr/>
        <p:txBody>
          <a:bodyPr/>
          <a:lstStyle/>
          <a:p>
            <a:fld id="{493DC2E2-B20B-8B4F-8800-C4D029AC8EF1}" type="slidenum">
              <a:rPr lang="en-US" smtClean="0"/>
              <a:t>3</a:t>
            </a:fld>
            <a:endParaRPr lang="en-US"/>
          </a:p>
        </p:txBody>
      </p:sp>
    </p:spTree>
    <p:extLst>
      <p:ext uri="{BB962C8B-B14F-4D97-AF65-F5344CB8AC3E}">
        <p14:creationId xmlns:p14="http://schemas.microsoft.com/office/powerpoint/2010/main" val="1998930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explored the data to identify potential patterns. Overtime stood out immediately: employees working overtime had a 31.8 percent attrition rate compared with 9.7 percent among employees who did not. Attrition also varied substantially by job role, with Sales Representatives experiencing the highest rate at about 45 percent. Finally, employees reporting the lowest work-life balance had a 35.4 percent attrition rate. These are descriptive patterns, so we next tested whether these relationships remained statistically meaningful.</a:t>
            </a:r>
          </a:p>
        </p:txBody>
      </p:sp>
      <p:sp>
        <p:nvSpPr>
          <p:cNvPr id="4" name="Slide Number Placeholder 3"/>
          <p:cNvSpPr>
            <a:spLocks noGrp="1"/>
          </p:cNvSpPr>
          <p:nvPr>
            <p:ph type="sldNum" sz="quarter" idx="5"/>
          </p:nvPr>
        </p:nvSpPr>
        <p:spPr/>
        <p:txBody>
          <a:bodyPr/>
          <a:lstStyle/>
          <a:p>
            <a:fld id="{493DC2E2-B20B-8B4F-8800-C4D029AC8EF1}" type="slidenum">
              <a:rPr lang="en-US" smtClean="0"/>
              <a:t>4</a:t>
            </a:fld>
            <a:endParaRPr lang="en-US"/>
          </a:p>
        </p:txBody>
      </p:sp>
    </p:spTree>
    <p:extLst>
      <p:ext uri="{BB962C8B-B14F-4D97-AF65-F5344CB8AC3E}">
        <p14:creationId xmlns:p14="http://schemas.microsoft.com/office/powerpoint/2010/main" val="1068641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After identifying these preliminary patterns, we conducted formal statistical tests to determine which employee characteristics were significantly associated with attrition. </a:t>
            </a:r>
          </a:p>
          <a:p>
            <a:r>
              <a:rPr lang="en-US" b="0" dirty="0"/>
              <a:t>For categorical variables, such as overtime, job role, and stock option level, we used chi-square tests of independence. </a:t>
            </a:r>
          </a:p>
          <a:p>
            <a:r>
              <a:rPr lang="en-US" b="0" dirty="0"/>
              <a:t>And for numerical variables, such as age, income, and years at the company, we used Wilcoxon rank-sum tests to compare employees who stayed with those who left.</a:t>
            </a:r>
          </a:p>
          <a:p>
            <a:endParaRPr lang="en-US" b="0" dirty="0"/>
          </a:p>
          <a:p>
            <a:r>
              <a:rPr lang="en-US" b="0" dirty="0"/>
              <a:t>The visualization ranks the variables based on their p-values. Because smaller p-values provide stronger statistical evidence against the assumption of no relationship, longer bars indicate stronger evidence of an association with attrition. This screening process identified a set of variables that were statistically significant and worth carrying forward into our predictive modeling.</a:t>
            </a:r>
          </a:p>
          <a:p>
            <a:r>
              <a:rPr lang="en-US" b="0" dirty="0"/>
              <a:t>Importantly, this chart doesn't tell us which variables are the most important predictors or that any of them cause attrition. </a:t>
            </a:r>
          </a:p>
          <a:p>
            <a:r>
              <a:rPr lang="en-US" b="0" dirty="0"/>
              <a:t>We then considered these variables together in our multivariable models to determine which factors remained independently associated with attrition and whether they could be used to predict employee turnover.</a:t>
            </a:r>
          </a:p>
        </p:txBody>
      </p:sp>
      <p:sp>
        <p:nvSpPr>
          <p:cNvPr id="4" name="Slide Number Placeholder 3"/>
          <p:cNvSpPr>
            <a:spLocks noGrp="1"/>
          </p:cNvSpPr>
          <p:nvPr>
            <p:ph type="sldNum" sz="quarter" idx="5"/>
          </p:nvPr>
        </p:nvSpPr>
        <p:spPr/>
        <p:txBody>
          <a:bodyPr/>
          <a:lstStyle/>
          <a:p>
            <a:fld id="{493DC2E2-B20B-8B4F-8800-C4D029AC8EF1}" type="slidenum">
              <a:rPr lang="en-US" smtClean="0"/>
              <a:t>5</a:t>
            </a:fld>
            <a:endParaRPr lang="en-US"/>
          </a:p>
        </p:txBody>
      </p:sp>
    </p:spTree>
    <p:extLst>
      <p:ext uri="{BB962C8B-B14F-4D97-AF65-F5344CB8AC3E}">
        <p14:creationId xmlns:p14="http://schemas.microsoft.com/office/powerpoint/2010/main" val="471346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adjusting for multiple variables simultaneously, three factors stood out as particularly important. Overtime was the strongest finding, with employees working overtime showing approximately 5 times higher odds of attrition. Job involvement was also highly significant, with higher involvement associated with greater retention. Finally, stock option level showed significant differences in attrition across categories. Job role and Work-Life Balance showed promise in the initial findings but when I ran them through the regression model, they did not perform as highly as these three.</a:t>
            </a:r>
          </a:p>
          <a:p>
            <a:r>
              <a:rPr lang="en-US" dirty="0"/>
              <a:t>So we then wanted to determine whether these predictors could actually be used to identify employees at risk of leaving. For each of the models, thresholds were optimized to meet the case requirement of ≥60% sensitivity and ≥60% specificity. </a:t>
            </a:r>
          </a:p>
          <a:p>
            <a:endParaRPr lang="en-US" dirty="0"/>
          </a:p>
        </p:txBody>
      </p:sp>
      <p:sp>
        <p:nvSpPr>
          <p:cNvPr id="4" name="Slide Number Placeholder 3"/>
          <p:cNvSpPr>
            <a:spLocks noGrp="1"/>
          </p:cNvSpPr>
          <p:nvPr>
            <p:ph type="sldNum" sz="quarter" idx="5"/>
          </p:nvPr>
        </p:nvSpPr>
        <p:spPr/>
        <p:txBody>
          <a:bodyPr/>
          <a:lstStyle/>
          <a:p>
            <a:fld id="{493DC2E2-B20B-8B4F-8800-C4D029AC8EF1}" type="slidenum">
              <a:rPr lang="en-US" smtClean="0"/>
              <a:t>6</a:t>
            </a:fld>
            <a:endParaRPr lang="en-US"/>
          </a:p>
        </p:txBody>
      </p:sp>
    </p:spTree>
    <p:extLst>
      <p:ext uri="{BB962C8B-B14F-4D97-AF65-F5344CB8AC3E}">
        <p14:creationId xmlns:p14="http://schemas.microsoft.com/office/powerpoint/2010/main" val="2848794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Our first predictive approach was the KNN Model. Rather than estimating a specific relationship between each variable and attrition, KNN looks at employees in the training data who have similar characteristics and uses their outcomes to classify a new employee. We used the same 10 predictors identified during our earlier analysis and tested several values of K. We selected K = 5 as a reasonable starting point for the model.</a:t>
            </a:r>
          </a:p>
          <a:p>
            <a:r>
              <a:rPr lang="en-US" b="0" dirty="0"/>
              <a:t>At the classification threshold we selected, KNN achieved 71.4% sensitivity. It had a specificity of 63.5%, and its overall accuracy was 64.8%. The model therefore met the case requirement of at least 60% sensitivity and specificity. However, its balanced accuracy was only 67.4%, indicating that there was still a tradeoff between identifying employees who leave and correctly identifying employees who stay.</a:t>
            </a:r>
          </a:p>
          <a:p>
            <a:endParaRPr lang="en-US" b="0" dirty="0"/>
          </a:p>
        </p:txBody>
      </p:sp>
      <p:sp>
        <p:nvSpPr>
          <p:cNvPr id="4" name="Slide Number Placeholder 3"/>
          <p:cNvSpPr>
            <a:spLocks noGrp="1"/>
          </p:cNvSpPr>
          <p:nvPr>
            <p:ph type="sldNum" sz="quarter" idx="5"/>
          </p:nvPr>
        </p:nvSpPr>
        <p:spPr/>
        <p:txBody>
          <a:bodyPr/>
          <a:lstStyle/>
          <a:p>
            <a:fld id="{493DC2E2-B20B-8B4F-8800-C4D029AC8EF1}" type="slidenum">
              <a:rPr lang="en-US" smtClean="0"/>
              <a:t>7</a:t>
            </a:fld>
            <a:endParaRPr lang="en-US"/>
          </a:p>
        </p:txBody>
      </p:sp>
    </p:spTree>
    <p:extLst>
      <p:ext uri="{BB962C8B-B14F-4D97-AF65-F5344CB8AC3E}">
        <p14:creationId xmlns:p14="http://schemas.microsoft.com/office/powerpoint/2010/main" val="2097121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Our second approach was Naive Bayes. Unlike KNN, which classifies employees based on similarity to other employees, Naive Bayes calculates the probability of attrition based on the characteristics of each employee. We again used the same 10 predictors so that we could make a fair comparison between models.</a:t>
            </a:r>
          </a:p>
          <a:p>
            <a:r>
              <a:rPr lang="en-US" b="0" dirty="0"/>
              <a:t>Using a 25% probability threshold, Naive Bayes achieved 61.9% sensitivity and 69.4% specificity, with an overall accuracy of 68.2%. This means it also met the case requirement of at least 60% sensitivity and specificity. However, its balanced accuracy was 65.7%.</a:t>
            </a:r>
          </a:p>
          <a:p>
            <a:r>
              <a:rPr lang="en-US" dirty="0"/>
              <a:t>Naive Bayes also met the minimum requirement, but its balanced accuracy was lower than KNN. Therefore I evaluated a third approach—logistic regression—to see whether I could improve the overall balance while maintaining interpretability</a:t>
            </a:r>
            <a:endParaRPr lang="en-US" b="0" dirty="0"/>
          </a:p>
        </p:txBody>
      </p:sp>
      <p:sp>
        <p:nvSpPr>
          <p:cNvPr id="4" name="Slide Number Placeholder 3"/>
          <p:cNvSpPr>
            <a:spLocks noGrp="1"/>
          </p:cNvSpPr>
          <p:nvPr>
            <p:ph type="sldNum" sz="quarter" idx="5"/>
          </p:nvPr>
        </p:nvSpPr>
        <p:spPr/>
        <p:txBody>
          <a:bodyPr/>
          <a:lstStyle/>
          <a:p>
            <a:fld id="{493DC2E2-B20B-8B4F-8800-C4D029AC8EF1}" type="slidenum">
              <a:rPr lang="en-US" smtClean="0"/>
              <a:t>8</a:t>
            </a:fld>
            <a:endParaRPr lang="en-US"/>
          </a:p>
        </p:txBody>
      </p:sp>
    </p:spTree>
    <p:extLst>
      <p:ext uri="{BB962C8B-B14F-4D97-AF65-F5344CB8AC3E}">
        <p14:creationId xmlns:p14="http://schemas.microsoft.com/office/powerpoint/2010/main" val="89775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Compared with the other two models, logistic regression gave us the strongest overall balance. It had the highest accuracy and balanced accuracy, while still exceeding the required sensitivity and specificity thresholds. In addition, it allowed us to interpret the relationship between the employee characteristics and attrition, which was important from a business perspective. For those reasons, we selected logistic regression as our final model.</a:t>
            </a:r>
          </a:p>
          <a:p>
            <a:r>
              <a:rPr lang="en-US" dirty="0"/>
              <a:t>This confusion matrix shows the model's performance on the held-out validation data using a 20 percent threshold. </a:t>
            </a:r>
          </a:p>
          <a:p>
            <a:r>
              <a:rPr lang="en-US" dirty="0"/>
              <a:t>The reason I used a 20 percent threshold is because at the standard 50 percent threshold, the model had high specificity but only 33 percent sensitivity, meaning it missed too many employees who left.</a:t>
            </a:r>
          </a:p>
          <a:p>
            <a:r>
              <a:rPr lang="en-US" dirty="0"/>
              <a:t>We therefore evaluated alternative probability thresholds. Leading us to the 20 percent threshold, which met the case requirement of at least 60 percent for both metrics.</a:t>
            </a:r>
          </a:p>
          <a:p>
            <a:r>
              <a:rPr lang="en-US" dirty="0"/>
              <a:t>The model correctly identified 29 of the 42 employees who actually left, giving us 69 percent sensitivity. </a:t>
            </a:r>
          </a:p>
          <a:p>
            <a:r>
              <a:rPr lang="en-US" dirty="0"/>
              <a:t>It correctly identified 167 of the 219 employees who stayed, giving us 76 percent specificity. </a:t>
            </a:r>
          </a:p>
          <a:p>
            <a:r>
              <a:rPr lang="en-US" dirty="0"/>
              <a:t>And lastly, it was about 75.1 percent accurate.</a:t>
            </a:r>
          </a:p>
        </p:txBody>
      </p:sp>
      <p:sp>
        <p:nvSpPr>
          <p:cNvPr id="4" name="Slide Number Placeholder 3"/>
          <p:cNvSpPr>
            <a:spLocks noGrp="1"/>
          </p:cNvSpPr>
          <p:nvPr>
            <p:ph type="sldNum" sz="quarter" idx="5"/>
          </p:nvPr>
        </p:nvSpPr>
        <p:spPr/>
        <p:txBody>
          <a:bodyPr/>
          <a:lstStyle/>
          <a:p>
            <a:fld id="{493DC2E2-B20B-8B4F-8800-C4D029AC8EF1}" type="slidenum">
              <a:rPr lang="en-US" smtClean="0"/>
              <a:t>9</a:t>
            </a:fld>
            <a:endParaRPr lang="en-US"/>
          </a:p>
        </p:txBody>
      </p:sp>
    </p:spTree>
    <p:extLst>
      <p:ext uri="{BB962C8B-B14F-4D97-AF65-F5344CB8AC3E}">
        <p14:creationId xmlns:p14="http://schemas.microsoft.com/office/powerpoint/2010/main" val="2102000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8EA77-230B-4031-6D8F-085773D4E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9839B-FC68-E150-20DC-24AD2E45E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DEB82-BAAC-7C5E-55F0-FD3E2174B0BE}"/>
              </a:ext>
            </a:extLst>
          </p:cNvPr>
          <p:cNvSpPr>
            <a:spLocks noGrp="1"/>
          </p:cNvSpPr>
          <p:nvPr>
            <p:ph type="body" idx="1"/>
          </p:nvPr>
        </p:nvSpPr>
        <p:spPr/>
        <p:txBody>
          <a:bodyPr/>
          <a:lstStyle/>
          <a:p>
            <a:r>
              <a:rPr lang="en-US" dirty="0"/>
              <a:t>Here we can see the three models being compared side-by-side with their respective sensitivity, specificity and balanced accuracy values. Remember that accuracy measures the percentage of all predictions that were correct, while balanced accuracy gives equal weight to identifying employees who leave and employees who stay. Because attrition is an imbalanced outcome, balanced accuracy is a more informative measure of our model's overall performance since it averages sensitivity and specificity.</a:t>
            </a:r>
          </a:p>
        </p:txBody>
      </p:sp>
      <p:sp>
        <p:nvSpPr>
          <p:cNvPr id="4" name="Slide Number Placeholder 3">
            <a:extLst>
              <a:ext uri="{FF2B5EF4-FFF2-40B4-BE49-F238E27FC236}">
                <a16:creationId xmlns:a16="http://schemas.microsoft.com/office/drawing/2014/main" id="{F37B5274-4ED6-63D9-CF53-DBCB085C2946}"/>
              </a:ext>
            </a:extLst>
          </p:cNvPr>
          <p:cNvSpPr>
            <a:spLocks noGrp="1"/>
          </p:cNvSpPr>
          <p:nvPr>
            <p:ph type="sldNum" sz="quarter" idx="5"/>
          </p:nvPr>
        </p:nvSpPr>
        <p:spPr/>
        <p:txBody>
          <a:bodyPr/>
          <a:lstStyle/>
          <a:p>
            <a:fld id="{493DC2E2-B20B-8B4F-8800-C4D029AC8EF1}" type="slidenum">
              <a:rPr lang="en-US" smtClean="0"/>
              <a:t>10</a:t>
            </a:fld>
            <a:endParaRPr lang="en-US"/>
          </a:p>
        </p:txBody>
      </p:sp>
    </p:spTree>
    <p:extLst>
      <p:ext uri="{BB962C8B-B14F-4D97-AF65-F5344CB8AC3E}">
        <p14:creationId xmlns:p14="http://schemas.microsoft.com/office/powerpoint/2010/main" val="959985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note is that the model also adjusted the classification threshold because the standard 50 percent threshold produced insufficient sensitivity.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final model for regression used a 20 percent threshold, which allowed us to identify more potential leavers while still maintaining acceptable specificity.</a:t>
            </a:r>
          </a:p>
          <a:p>
            <a:r>
              <a:rPr lang="en-US" dirty="0"/>
              <a:t>And while it </a:t>
            </a:r>
            <a:r>
              <a:rPr lang="en-US" dirty="0" err="1"/>
              <a:t>wasnt</a:t>
            </a:r>
            <a:r>
              <a:rPr lang="en-US" dirty="0"/>
              <a:t> the highest on sensitivity, it had the </a:t>
            </a:r>
            <a:r>
              <a:rPr lang="en-US" b="1" dirty="0"/>
              <a:t>best balanced accuracy and strongest overall balance between sensitivity and specificity</a:t>
            </a:r>
            <a:r>
              <a:rPr lang="en-US" dirty="0"/>
              <a:t> among the three, which is why I selected it. </a:t>
            </a:r>
          </a:p>
        </p:txBody>
      </p:sp>
      <p:sp>
        <p:nvSpPr>
          <p:cNvPr id="4" name="Slide Number Placeholder 3"/>
          <p:cNvSpPr>
            <a:spLocks noGrp="1"/>
          </p:cNvSpPr>
          <p:nvPr>
            <p:ph type="sldNum" sz="quarter" idx="5"/>
          </p:nvPr>
        </p:nvSpPr>
        <p:spPr/>
        <p:txBody>
          <a:bodyPr/>
          <a:lstStyle/>
          <a:p>
            <a:fld id="{493DC2E2-B20B-8B4F-8800-C4D029AC8EF1}" type="slidenum">
              <a:rPr lang="en-US" smtClean="0"/>
              <a:t>11</a:t>
            </a:fld>
            <a:endParaRPr lang="en-US"/>
          </a:p>
        </p:txBody>
      </p:sp>
    </p:spTree>
    <p:extLst>
      <p:ext uri="{BB962C8B-B14F-4D97-AF65-F5344CB8AC3E}">
        <p14:creationId xmlns:p14="http://schemas.microsoft.com/office/powerpoint/2010/main" val="3412245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then applied the model to the 300 employees in the competition dataset. Using our regression model and the 20 percent threshold, 64 employees were flagged as higher risk, representing 21.3 percent of the population.</a:t>
            </a:r>
          </a:p>
          <a:p>
            <a:r>
              <a:rPr lang="en-US" dirty="0"/>
              <a:t>These employees will be the target of a retention intervention. </a:t>
            </a:r>
          </a:p>
        </p:txBody>
      </p:sp>
      <p:sp>
        <p:nvSpPr>
          <p:cNvPr id="4" name="Slide Number Placeholder 3"/>
          <p:cNvSpPr>
            <a:spLocks noGrp="1"/>
          </p:cNvSpPr>
          <p:nvPr>
            <p:ph type="sldNum" sz="quarter" idx="5"/>
          </p:nvPr>
        </p:nvSpPr>
        <p:spPr/>
        <p:txBody>
          <a:bodyPr/>
          <a:lstStyle/>
          <a:p>
            <a:fld id="{493DC2E2-B20B-8B4F-8800-C4D029AC8EF1}" type="slidenum">
              <a:rPr lang="en-US" smtClean="0"/>
              <a:t>12</a:t>
            </a:fld>
            <a:endParaRPr lang="en-US"/>
          </a:p>
        </p:txBody>
      </p:sp>
    </p:spTree>
    <p:extLst>
      <p:ext uri="{BB962C8B-B14F-4D97-AF65-F5344CB8AC3E}">
        <p14:creationId xmlns:p14="http://schemas.microsoft.com/office/powerpoint/2010/main" val="3072173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analysis connects the model directly to the business decision. The company would spend $200 per flagged employee, or $12,800 for all 64 employees.</a:t>
            </a:r>
          </a:p>
          <a:p>
            <a:r>
              <a:rPr lang="en-US" dirty="0"/>
              <a:t>In our middle scenario, if the intervention successfully retains half of those employees and replacing an employee costs 100 percent of annual salary, the company could avoid approximately $2.14 million in replacement costs, resulting in approximately $2.13 million in net potential savings.</a:t>
            </a:r>
          </a:p>
          <a:p>
            <a:r>
              <a:rPr lang="en-US" dirty="0"/>
              <a:t>The broader scenario analysis shows that the potential value remains substantial across different retention and replacement-cost assumptions.</a:t>
            </a:r>
          </a:p>
        </p:txBody>
      </p:sp>
      <p:sp>
        <p:nvSpPr>
          <p:cNvPr id="4" name="Slide Number Placeholder 3"/>
          <p:cNvSpPr>
            <a:spLocks noGrp="1"/>
          </p:cNvSpPr>
          <p:nvPr>
            <p:ph type="sldNum" sz="quarter" idx="5"/>
          </p:nvPr>
        </p:nvSpPr>
        <p:spPr/>
        <p:txBody>
          <a:bodyPr/>
          <a:lstStyle/>
          <a:p>
            <a:fld id="{493DC2E2-B20B-8B4F-8800-C4D029AC8EF1}" type="slidenum">
              <a:rPr lang="en-US" smtClean="0"/>
              <a:t>13</a:t>
            </a:fld>
            <a:endParaRPr lang="en-US"/>
          </a:p>
        </p:txBody>
      </p:sp>
    </p:spTree>
    <p:extLst>
      <p:ext uri="{BB962C8B-B14F-4D97-AF65-F5344CB8AC3E}">
        <p14:creationId xmlns:p14="http://schemas.microsoft.com/office/powerpoint/2010/main" val="2011099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analysis, I would recommend a targeted strategy rather than company-wide retention strategy. </a:t>
            </a:r>
          </a:p>
          <a:p>
            <a:r>
              <a:rPr lang="en-US" dirty="0"/>
              <a:t>First, Frito-Lay should monitor overtime among high-risk employees. </a:t>
            </a:r>
          </a:p>
          <a:p>
            <a:r>
              <a:rPr lang="en-US" dirty="0"/>
              <a:t>Second, the company should strengthen employee involvement through engagement and development initiatives. </a:t>
            </a:r>
          </a:p>
          <a:p>
            <a:r>
              <a:rPr lang="en-US" dirty="0"/>
              <a:t>Third, benefits and retention incentives can be targeted toward employees identified as high risk.</a:t>
            </a:r>
          </a:p>
          <a:p>
            <a:r>
              <a:rPr lang="en-US" dirty="0"/>
              <a:t>The key is to use the model as an early-warning system, intervene, measure the results, and continuously refine the approach.</a:t>
            </a:r>
          </a:p>
          <a:p>
            <a:r>
              <a:rPr lang="en-US" dirty="0"/>
              <a:t>And by doing so, as mentioned before, the potential net savings could be approx. $2Million</a:t>
            </a:r>
          </a:p>
        </p:txBody>
      </p:sp>
      <p:sp>
        <p:nvSpPr>
          <p:cNvPr id="4" name="Slide Number Placeholder 3"/>
          <p:cNvSpPr>
            <a:spLocks noGrp="1"/>
          </p:cNvSpPr>
          <p:nvPr>
            <p:ph type="sldNum" sz="quarter" idx="5"/>
          </p:nvPr>
        </p:nvSpPr>
        <p:spPr/>
        <p:txBody>
          <a:bodyPr/>
          <a:lstStyle/>
          <a:p>
            <a:fld id="{493DC2E2-B20B-8B4F-8800-C4D029AC8EF1}" type="slidenum">
              <a:rPr lang="en-US" smtClean="0"/>
              <a:t>14</a:t>
            </a:fld>
            <a:endParaRPr lang="en-US"/>
          </a:p>
        </p:txBody>
      </p:sp>
    </p:spTree>
    <p:extLst>
      <p:ext uri="{BB962C8B-B14F-4D97-AF65-F5344CB8AC3E}">
        <p14:creationId xmlns:p14="http://schemas.microsoft.com/office/powerpoint/2010/main" val="4181679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started with 870 employees and identified the factors most associated with attrition. </a:t>
            </a:r>
          </a:p>
          <a:p>
            <a:r>
              <a:rPr lang="en-US" dirty="0"/>
              <a:t>We developed a logistic regression model that met the required sensitivity and specificity thresholds.</a:t>
            </a:r>
          </a:p>
          <a:p>
            <a:r>
              <a:rPr lang="en-US" dirty="0"/>
              <a:t>When applied to the competition population, the model identified 64 employees for targeted intervention. </a:t>
            </a:r>
          </a:p>
          <a:p>
            <a:r>
              <a:rPr lang="en-US" dirty="0"/>
              <a:t>Under our financial scenario, that creates approximately $2.13 million in potential net savings.</a:t>
            </a:r>
          </a:p>
          <a:p>
            <a:r>
              <a:rPr lang="en-US" dirty="0"/>
              <a:t>The overall recommendation is to use predictive analytics as an early-warning system to focus retention resources where they can have the greatest potential impact.</a:t>
            </a:r>
          </a:p>
          <a:p>
            <a:endParaRPr lang="en-US" dirty="0"/>
          </a:p>
          <a:p>
            <a:r>
              <a:rPr lang="en-US" dirty="0"/>
              <a:t>Once again, my name is Siddhant. Thank you for your time and I'm happy to answer any questions!</a:t>
            </a:r>
          </a:p>
          <a:p>
            <a:endParaRPr lang="en-US" dirty="0"/>
          </a:p>
        </p:txBody>
      </p:sp>
      <p:sp>
        <p:nvSpPr>
          <p:cNvPr id="4" name="Slide Number Placeholder 3"/>
          <p:cNvSpPr>
            <a:spLocks noGrp="1"/>
          </p:cNvSpPr>
          <p:nvPr>
            <p:ph type="sldNum" sz="quarter" idx="5"/>
          </p:nvPr>
        </p:nvSpPr>
        <p:spPr/>
        <p:txBody>
          <a:bodyPr/>
          <a:lstStyle/>
          <a:p>
            <a:fld id="{493DC2E2-B20B-8B4F-8800-C4D029AC8EF1}" type="slidenum">
              <a:rPr lang="en-US" smtClean="0"/>
              <a:t>15</a:t>
            </a:fld>
            <a:endParaRPr lang="en-US"/>
          </a:p>
        </p:txBody>
      </p:sp>
    </p:spTree>
    <p:extLst>
      <p:ext uri="{BB962C8B-B14F-4D97-AF65-F5344CB8AC3E}">
        <p14:creationId xmlns:p14="http://schemas.microsoft.com/office/powerpoint/2010/main" val="3056864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0170076F-00E9-0C4F-8CA4-894F4050499F}" type="slidenum">
              <a:rPr lang="en-US" smtClean="0"/>
              <a:t>‹#›</a:t>
            </a:fld>
            <a:endParaRPr lang="en-US"/>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89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D8F7EF2E-59D0-9F44-8A43-06CF009EF77F}" type="datetimeFigureOut">
              <a:rPr lang="en-US" smtClean="0"/>
              <a:t>10/19/26</a:t>
            </a:fld>
            <a:endParaRPr lang="en-US"/>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0170076F-00E9-0C4F-8CA4-894F4050499F}" type="slidenum">
              <a:rPr lang="en-US" smtClean="0"/>
              <a:t>‹#›</a:t>
            </a:fld>
            <a:endParaRPr lang="en-US"/>
          </a:p>
        </p:txBody>
      </p:sp>
    </p:spTree>
    <p:extLst>
      <p:ext uri="{BB962C8B-B14F-4D97-AF65-F5344CB8AC3E}">
        <p14:creationId xmlns:p14="http://schemas.microsoft.com/office/powerpoint/2010/main" val="400869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Tree>
    <p:extLst>
      <p:ext uri="{BB962C8B-B14F-4D97-AF65-F5344CB8AC3E}">
        <p14:creationId xmlns:p14="http://schemas.microsoft.com/office/powerpoint/2010/main" val="12752659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557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0170076F-00E9-0C4F-8CA4-894F4050499F}" type="slidenum">
              <a:rPr lang="en-US" smtClean="0"/>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3202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6700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0170076F-00E9-0C4F-8CA4-894F4050499F}"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949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0170076F-00E9-0C4F-8CA4-894F4050499F}"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309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0170076F-00E9-0C4F-8CA4-894F4050499F}"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9058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43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047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05210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0170076F-00E9-0C4F-8CA4-894F405049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71073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3074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D8F7EF2E-59D0-9F44-8A43-06CF009EF77F}" type="datetimeFigureOut">
              <a:rPr lang="en-US" smtClean="0"/>
              <a:t>10/19/26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871045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Tree>
    <p:extLst>
      <p:ext uri="{BB962C8B-B14F-4D97-AF65-F5344CB8AC3E}">
        <p14:creationId xmlns:p14="http://schemas.microsoft.com/office/powerpoint/2010/main" val="2249933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2410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8627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0170076F-00E9-0C4F-8CA4-894F4050499F}" type="slidenum">
              <a:rPr lang="en-US" smtClean="0"/>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56466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0170076F-00E9-0C4F-8CA4-894F4050499F}" type="slidenum">
              <a:rPr lang="en-US" smtClean="0"/>
              <a:t>‹#›</a:t>
            </a:fld>
            <a:endParaRPr lang="en-US"/>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3903655"/>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0170076F-00E9-0C4F-8CA4-894F4050499F}"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410352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8F7EF2E-59D0-9F44-8A43-06CF009EF77F}" type="datetimeFigureOut">
              <a:rPr lang="en-US" smtClean="0"/>
              <a:t>10/19/26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0170076F-00E9-0C4F-8CA4-894F405049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56527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D8F7EF2E-59D0-9F44-8A43-06CF009EF77F}" type="datetimeFigureOut">
              <a:rPr lang="en-US" smtClean="0"/>
              <a:t>10/19/26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0170076F-00E9-0C4F-8CA4-894F405049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90606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956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D8F7EF2E-59D0-9F44-8A43-06CF009EF77F}" type="datetimeFigureOut">
              <a:rPr lang="en-US" smtClean="0"/>
              <a:t>10/19/26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0170076F-00E9-0C4F-8CA4-894F4050499F}" type="slidenum">
              <a:rPr lang="en-US" smtClean="0"/>
              <a:t>‹#›</a:t>
            </a:fld>
            <a:endParaRPr lang="en-US"/>
          </a:p>
        </p:txBody>
      </p:sp>
    </p:spTree>
    <p:extLst>
      <p:ext uri="{BB962C8B-B14F-4D97-AF65-F5344CB8AC3E}">
        <p14:creationId xmlns:p14="http://schemas.microsoft.com/office/powerpoint/2010/main" val="13306804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485982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0170076F-00E9-0C4F-8CA4-894F4050499F}" type="slidenum">
              <a:rPr lang="en-US" smtClean="0"/>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215173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D8F7EF2E-59D0-9F44-8A43-06CF009EF77F}" type="datetimeFigureOut">
              <a:rPr lang="en-US" smtClean="0"/>
              <a:t>10/19/26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0170076F-00E9-0C4F-8CA4-894F4050499F}" type="slidenum">
              <a:rPr lang="en-US" smtClean="0"/>
              <a:t>‹#›</a:t>
            </a:fld>
            <a:endParaRPr lang="en-US"/>
          </a:p>
        </p:txBody>
      </p:sp>
    </p:spTree>
    <p:extLst>
      <p:ext uri="{BB962C8B-B14F-4D97-AF65-F5344CB8AC3E}">
        <p14:creationId xmlns:p14="http://schemas.microsoft.com/office/powerpoint/2010/main" val="2165097727"/>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audio" Target="../media/media2.m4a"/><Relationship Id="rId2" Type="http://schemas.microsoft.com/office/2007/relationships/media" Target="../media/media2.m4a"/><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6.png"/><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7.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audio" Target="../media/media4.m4a"/><Relationship Id="rId7" Type="http://schemas.openxmlformats.org/officeDocument/2006/relationships/image" Target="../media/image9.png"/><Relationship Id="rId2" Type="http://schemas.microsoft.com/office/2007/relationships/media" Target="../media/media4.m4a"/><Relationship Id="rId1" Type="http://schemas.openxmlformats.org/officeDocument/2006/relationships/tags" Target="../tags/tag3.xml"/><Relationship Id="rId6" Type="http://schemas.openxmlformats.org/officeDocument/2006/relationships/image" Target="../media/image8.pn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6.png"/><Relationship Id="rId2" Type="http://schemas.microsoft.com/office/2007/relationships/media" Target="../media/media5.m4a"/><Relationship Id="rId1" Type="http://schemas.openxmlformats.org/officeDocument/2006/relationships/tags" Target="../tags/tag4.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audio" Target="../media/media6.m4a"/><Relationship Id="rId7" Type="http://schemas.openxmlformats.org/officeDocument/2006/relationships/image" Target="../media/image8.png"/><Relationship Id="rId2" Type="http://schemas.microsoft.com/office/2007/relationships/media" Target="../media/media6.m4a"/><Relationship Id="rId1" Type="http://schemas.openxmlformats.org/officeDocument/2006/relationships/tags" Target="../tags/tag5.xml"/><Relationship Id="rId6" Type="http://schemas.openxmlformats.org/officeDocument/2006/relationships/image" Target="../media/image12.png"/><Relationship Id="rId5" Type="http://schemas.openxmlformats.org/officeDocument/2006/relationships/notesSlide" Target="../notesSlides/notesSlide6.xml"/><Relationship Id="rId4" Type="http://schemas.openxmlformats.org/officeDocument/2006/relationships/slideLayout" Target="../slideLayouts/slideLayout2.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2" Type="http://schemas.microsoft.com/office/2007/relationships/media" Target="../media/media7.m4a"/><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2" Type="http://schemas.microsoft.com/office/2007/relationships/media" Target="../media/media8.m4a"/><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media9.m4a"/><Relationship Id="rId7" Type="http://schemas.openxmlformats.org/officeDocument/2006/relationships/image" Target="../media/image6.png"/><Relationship Id="rId2" Type="http://schemas.microsoft.com/office/2007/relationships/media" Target="../media/media9.m4a"/><Relationship Id="rId1" Type="http://schemas.openxmlformats.org/officeDocument/2006/relationships/tags" Target="../tags/tag8.xml"/><Relationship Id="rId6" Type="http://schemas.openxmlformats.org/officeDocument/2006/relationships/image" Target="../media/image14.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7" Type="http://schemas.openxmlformats.org/officeDocument/2006/relationships/image" Target="../media/image6.png"/><Relationship Id="rId2" Type="http://schemas.microsoft.com/office/2007/relationships/media" Target="../media/media10.m4a"/><Relationship Id="rId1" Type="http://schemas.openxmlformats.org/officeDocument/2006/relationships/tags" Target="../tags/tag9.xml"/><Relationship Id="rId6" Type="http://schemas.openxmlformats.org/officeDocument/2006/relationships/image" Target="../media/image15.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7" Type="http://schemas.openxmlformats.org/officeDocument/2006/relationships/image" Target="../media/image6.png"/><Relationship Id="rId2" Type="http://schemas.microsoft.com/office/2007/relationships/media" Target="../media/media11.m4a"/><Relationship Id="rId1" Type="http://schemas.openxmlformats.org/officeDocument/2006/relationships/tags" Target="../tags/tag10.xml"/><Relationship Id="rId6" Type="http://schemas.openxmlformats.org/officeDocument/2006/relationships/image" Target="../media/image15.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6.png"/><Relationship Id="rId2" Type="http://schemas.microsoft.com/office/2007/relationships/media" Target="../media/media12.m4a"/><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2" Type="http://schemas.microsoft.com/office/2007/relationships/media" Target="../media/media13.m4a"/><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audio" Target="../media/media14.m4a"/><Relationship Id="rId7" Type="http://schemas.openxmlformats.org/officeDocument/2006/relationships/diagramLayout" Target="../diagrams/layout1.xml"/><Relationship Id="rId2" Type="http://schemas.microsoft.com/office/2007/relationships/media" Target="../media/media14.m4a"/><Relationship Id="rId1" Type="http://schemas.openxmlformats.org/officeDocument/2006/relationships/tags" Target="../tags/tag13.xml"/><Relationship Id="rId6" Type="http://schemas.openxmlformats.org/officeDocument/2006/relationships/diagramData" Target="../diagrams/data1.xml"/><Relationship Id="rId11" Type="http://schemas.openxmlformats.org/officeDocument/2006/relationships/image" Target="../media/image6.png"/><Relationship Id="rId5" Type="http://schemas.openxmlformats.org/officeDocument/2006/relationships/notesSlide" Target="../notesSlides/notesSlide14.xml"/><Relationship Id="rId10" Type="http://schemas.microsoft.com/office/2007/relationships/diagramDrawing" Target="../diagrams/drawing1.xml"/><Relationship Id="rId4" Type="http://schemas.openxmlformats.org/officeDocument/2006/relationships/slideLayout" Target="../slideLayouts/slideLayout2.xml"/><Relationship Id="rId9" Type="http://schemas.openxmlformats.org/officeDocument/2006/relationships/diagramColors" Target="../diagrams/colors1.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2" Type="http://schemas.microsoft.com/office/2007/relationships/media" Target="../media/media15.m4a"/><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6001C-575A-A1C6-125E-C47B31CF1BE2}"/>
              </a:ext>
            </a:extLst>
          </p:cNvPr>
          <p:cNvSpPr>
            <a:spLocks noGrp="1"/>
          </p:cNvSpPr>
          <p:nvPr>
            <p:ph type="ctrTitle"/>
          </p:nvPr>
        </p:nvSpPr>
        <p:spPr/>
        <p:txBody>
          <a:bodyPr>
            <a:normAutofit/>
          </a:bodyPr>
          <a:lstStyle/>
          <a:p>
            <a:pPr algn="ctr"/>
            <a:r>
              <a:rPr lang="en-US" sz="4800" dirty="0" err="1"/>
              <a:t>Frito-lay</a:t>
            </a:r>
            <a:br>
              <a:rPr lang="en-US" sz="4800" dirty="0"/>
            </a:br>
            <a:r>
              <a:rPr lang="en-US" sz="4800" dirty="0" err="1"/>
              <a:t>DDSAnalytics</a:t>
            </a:r>
            <a:r>
              <a:rPr lang="en-US" sz="4800" dirty="0"/>
              <a:t>: Employee attrition analysis &amp; Prediction </a:t>
            </a:r>
          </a:p>
        </p:txBody>
      </p:sp>
      <p:sp>
        <p:nvSpPr>
          <p:cNvPr id="3" name="Subtitle 2">
            <a:extLst>
              <a:ext uri="{FF2B5EF4-FFF2-40B4-BE49-F238E27FC236}">
                <a16:creationId xmlns:a16="http://schemas.microsoft.com/office/drawing/2014/main" id="{7D869FB8-75CC-6F0E-1898-526FE2B6EA0E}"/>
              </a:ext>
            </a:extLst>
          </p:cNvPr>
          <p:cNvSpPr>
            <a:spLocks noGrp="1"/>
          </p:cNvSpPr>
          <p:nvPr>
            <p:ph type="subTitle" idx="1"/>
          </p:nvPr>
        </p:nvSpPr>
        <p:spPr>
          <a:xfrm>
            <a:off x="4839818" y="4853791"/>
            <a:ext cx="7152030" cy="987254"/>
          </a:xfrm>
        </p:spPr>
        <p:txBody>
          <a:bodyPr/>
          <a:lstStyle/>
          <a:p>
            <a:pPr algn="r"/>
            <a:r>
              <a:rPr lang="en-US" dirty="0"/>
              <a:t>Siddhant Ankolekar</a:t>
            </a:r>
          </a:p>
          <a:p>
            <a:pPr algn="r"/>
            <a:r>
              <a:rPr lang="en-US" dirty="0"/>
              <a:t>SMU – Data Science</a:t>
            </a:r>
          </a:p>
        </p:txBody>
      </p:sp>
      <p:pic>
        <p:nvPicPr>
          <p:cNvPr id="6" name="Picture 5">
            <a:extLst>
              <a:ext uri="{FF2B5EF4-FFF2-40B4-BE49-F238E27FC236}">
                <a16:creationId xmlns:a16="http://schemas.microsoft.com/office/drawing/2014/main" id="{669CFB1C-2DEC-AA37-7E3C-7C5B08C8B71A}"/>
              </a:ext>
            </a:extLst>
          </p:cNvPr>
          <p:cNvPicPr>
            <a:picLocks noChangeAspect="1"/>
          </p:cNvPicPr>
          <p:nvPr/>
        </p:nvPicPr>
        <p:blipFill>
          <a:blip r:embed="rId5"/>
          <a:stretch>
            <a:fillRect/>
          </a:stretch>
        </p:blipFill>
        <p:spPr>
          <a:xfrm>
            <a:off x="244756" y="3722487"/>
            <a:ext cx="3017595" cy="3017595"/>
          </a:xfrm>
          <a:prstGeom prst="rect">
            <a:avLst/>
          </a:prstGeom>
        </p:spPr>
      </p:pic>
      <p:pic>
        <p:nvPicPr>
          <p:cNvPr id="22" name="Audio 21">
            <a:extLst>
              <a:ext uri="{FF2B5EF4-FFF2-40B4-BE49-F238E27FC236}">
                <a16:creationId xmlns:a16="http://schemas.microsoft.com/office/drawing/2014/main" id="{C295A7AA-C926-6DA2-5A03-7D270D9B53F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4493316"/>
      </p:ext>
    </p:extLst>
  </p:cSld>
  <p:clrMapOvr>
    <a:masterClrMapping/>
  </p:clrMapOvr>
  <mc:AlternateContent xmlns:mc="http://schemas.openxmlformats.org/markup-compatibility/2006">
    <mc:Choice xmlns:p14="http://schemas.microsoft.com/office/powerpoint/2010/main" Requires="p14">
      <p:transition spd="slow" p14:dur="2000" advTm="19706"/>
    </mc:Choice>
    <mc:Fallback>
      <p:transition spd="slow" advTm="197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44F09-2FA6-B002-92E7-E4B4AC50B107}"/>
              </a:ext>
            </a:extLst>
          </p:cNvPr>
          <p:cNvSpPr>
            <a:spLocks noGrp="1"/>
          </p:cNvSpPr>
          <p:nvPr>
            <p:ph type="title"/>
          </p:nvPr>
        </p:nvSpPr>
        <p:spPr/>
        <p:txBody>
          <a:bodyPr>
            <a:noAutofit/>
          </a:bodyPr>
          <a:lstStyle/>
          <a:p>
            <a:r>
              <a:rPr lang="en-US" sz="2800" dirty="0"/>
              <a:t>Objective: </a:t>
            </a:r>
            <a:r>
              <a:rPr lang="en-US" sz="2200" dirty="0"/>
              <a:t>Understand and Predict Employee Attrition</a:t>
            </a:r>
          </a:p>
        </p:txBody>
      </p:sp>
      <p:sp>
        <p:nvSpPr>
          <p:cNvPr id="4" name="Rounded Rectangle 3">
            <a:extLst>
              <a:ext uri="{FF2B5EF4-FFF2-40B4-BE49-F238E27FC236}">
                <a16:creationId xmlns:a16="http://schemas.microsoft.com/office/drawing/2014/main" id="{A7D3C664-767E-08D0-3433-5D5B9B05601D}"/>
              </a:ext>
            </a:extLst>
          </p:cNvPr>
          <p:cNvSpPr/>
          <p:nvPr/>
        </p:nvSpPr>
        <p:spPr>
          <a:xfrm>
            <a:off x="401441" y="1628987"/>
            <a:ext cx="2464419" cy="2129883"/>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1</a:t>
            </a:r>
          </a:p>
          <a:p>
            <a:pPr algn="ctr"/>
            <a:endParaRPr lang="en-US" sz="1600" dirty="0"/>
          </a:p>
          <a:p>
            <a:pPr algn="ctr"/>
            <a:r>
              <a:rPr lang="en-US" sz="1600" b="1" dirty="0"/>
              <a:t>Identify</a:t>
            </a:r>
          </a:p>
          <a:p>
            <a:pPr algn="ctr"/>
            <a:endParaRPr lang="en-US" sz="1600" dirty="0"/>
          </a:p>
          <a:p>
            <a:pPr algn="ctr"/>
            <a:r>
              <a:rPr lang="en-US" sz="1600" dirty="0"/>
              <a:t>What factors are associated with employee attrition?</a:t>
            </a:r>
          </a:p>
        </p:txBody>
      </p:sp>
      <p:sp>
        <p:nvSpPr>
          <p:cNvPr id="5" name="Rounded Rectangle 4">
            <a:extLst>
              <a:ext uri="{FF2B5EF4-FFF2-40B4-BE49-F238E27FC236}">
                <a16:creationId xmlns:a16="http://schemas.microsoft.com/office/drawing/2014/main" id="{24C40E1B-4D0B-F96A-6A54-EE290A4D4B92}"/>
              </a:ext>
            </a:extLst>
          </p:cNvPr>
          <p:cNvSpPr/>
          <p:nvPr/>
        </p:nvSpPr>
        <p:spPr>
          <a:xfrm>
            <a:off x="3253370" y="1628987"/>
            <a:ext cx="2464419" cy="2129883"/>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2</a:t>
            </a:r>
          </a:p>
          <a:p>
            <a:pPr algn="ctr"/>
            <a:endParaRPr lang="en-US" sz="1600" dirty="0"/>
          </a:p>
          <a:p>
            <a:pPr algn="ctr"/>
            <a:r>
              <a:rPr lang="en-US" sz="1600" b="1" dirty="0"/>
              <a:t>Predict</a:t>
            </a:r>
          </a:p>
          <a:p>
            <a:pPr algn="ctr"/>
            <a:endParaRPr lang="en-US" sz="1600" dirty="0"/>
          </a:p>
          <a:p>
            <a:pPr algn="ctr"/>
            <a:r>
              <a:rPr lang="en-US" sz="1600" dirty="0"/>
              <a:t>Can we identify employees at higher risk of leaving?</a:t>
            </a:r>
          </a:p>
        </p:txBody>
      </p:sp>
      <p:sp>
        <p:nvSpPr>
          <p:cNvPr id="6" name="Rounded Rectangle 5">
            <a:extLst>
              <a:ext uri="{FF2B5EF4-FFF2-40B4-BE49-F238E27FC236}">
                <a16:creationId xmlns:a16="http://schemas.microsoft.com/office/drawing/2014/main" id="{E97B66D1-537E-0F0E-BD12-9F80CB2FE3CD}"/>
              </a:ext>
            </a:extLst>
          </p:cNvPr>
          <p:cNvSpPr/>
          <p:nvPr/>
        </p:nvSpPr>
        <p:spPr>
          <a:xfrm>
            <a:off x="6030020" y="1628986"/>
            <a:ext cx="2464419" cy="2129883"/>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3</a:t>
            </a:r>
          </a:p>
          <a:p>
            <a:pPr algn="ctr"/>
            <a:endParaRPr lang="en-US" sz="1600" dirty="0"/>
          </a:p>
          <a:p>
            <a:pPr algn="ctr"/>
            <a:r>
              <a:rPr lang="en-US" sz="1600" b="1" dirty="0"/>
              <a:t>Validate</a:t>
            </a:r>
          </a:p>
          <a:p>
            <a:pPr algn="ctr"/>
            <a:endParaRPr lang="en-US" sz="1600" dirty="0"/>
          </a:p>
          <a:p>
            <a:pPr algn="ctr"/>
            <a:r>
              <a:rPr lang="en-US" sz="1600" dirty="0"/>
              <a:t>Can the model achieve at least 60% sensitivity and 60% specificity?</a:t>
            </a:r>
          </a:p>
        </p:txBody>
      </p:sp>
      <p:sp>
        <p:nvSpPr>
          <p:cNvPr id="7" name="Rounded Rectangle 6">
            <a:extLst>
              <a:ext uri="{FF2B5EF4-FFF2-40B4-BE49-F238E27FC236}">
                <a16:creationId xmlns:a16="http://schemas.microsoft.com/office/drawing/2014/main" id="{3C568512-D2FD-6D27-AE3A-B619EB3BAAE7}"/>
              </a:ext>
            </a:extLst>
          </p:cNvPr>
          <p:cNvSpPr/>
          <p:nvPr/>
        </p:nvSpPr>
        <p:spPr>
          <a:xfrm>
            <a:off x="8881949" y="1628985"/>
            <a:ext cx="2464419" cy="2129883"/>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4</a:t>
            </a:r>
          </a:p>
          <a:p>
            <a:pPr algn="ctr"/>
            <a:endParaRPr lang="en-US" sz="1600" dirty="0"/>
          </a:p>
          <a:p>
            <a:pPr algn="ctr"/>
            <a:r>
              <a:rPr lang="en-US" sz="1600" b="1" dirty="0"/>
              <a:t>Quantify</a:t>
            </a:r>
          </a:p>
          <a:p>
            <a:pPr algn="ctr"/>
            <a:endParaRPr lang="en-US" sz="1600" dirty="0"/>
          </a:p>
          <a:p>
            <a:pPr algn="ctr"/>
            <a:r>
              <a:rPr lang="en-US" sz="1600" dirty="0"/>
              <a:t>What potential financial savings could targeted retention create?</a:t>
            </a:r>
          </a:p>
        </p:txBody>
      </p:sp>
      <p:graphicFrame>
        <p:nvGraphicFramePr>
          <p:cNvPr id="8" name="Table 7">
            <a:extLst>
              <a:ext uri="{FF2B5EF4-FFF2-40B4-BE49-F238E27FC236}">
                <a16:creationId xmlns:a16="http://schemas.microsoft.com/office/drawing/2014/main" id="{D41DE53F-07DC-C9D6-30CB-80973E8AA16B}"/>
              </a:ext>
            </a:extLst>
          </p:cNvPr>
          <p:cNvGraphicFramePr>
            <a:graphicFrameLocks noGrp="1"/>
          </p:cNvGraphicFramePr>
          <p:nvPr>
            <p:extLst>
              <p:ext uri="{D42A27DB-BD31-4B8C-83A1-F6EECF244321}">
                <p14:modId xmlns:p14="http://schemas.microsoft.com/office/powerpoint/2010/main" val="3321339659"/>
              </p:ext>
            </p:extLst>
          </p:nvPr>
        </p:nvGraphicFramePr>
        <p:xfrm>
          <a:off x="2849829" y="4217053"/>
          <a:ext cx="6032120" cy="2023920"/>
        </p:xfrm>
        <a:graphic>
          <a:graphicData uri="http://schemas.openxmlformats.org/drawingml/2006/table">
            <a:tbl>
              <a:tblPr>
                <a:tableStyleId>{5C22544A-7EE6-4342-B048-85BDC9FD1C3A}</a:tableStyleId>
              </a:tblPr>
              <a:tblGrid>
                <a:gridCol w="3016060">
                  <a:extLst>
                    <a:ext uri="{9D8B030D-6E8A-4147-A177-3AD203B41FA5}">
                      <a16:colId xmlns:a16="http://schemas.microsoft.com/office/drawing/2014/main" val="3211409020"/>
                    </a:ext>
                  </a:extLst>
                </a:gridCol>
                <a:gridCol w="3016060">
                  <a:extLst>
                    <a:ext uri="{9D8B030D-6E8A-4147-A177-3AD203B41FA5}">
                      <a16:colId xmlns:a16="http://schemas.microsoft.com/office/drawing/2014/main" val="3643546244"/>
                    </a:ext>
                  </a:extLst>
                </a:gridCol>
              </a:tblGrid>
              <a:tr h="399939">
                <a:tc>
                  <a:txBody>
                    <a:bodyPr/>
                    <a:lstStyle/>
                    <a:p>
                      <a:pPr>
                        <a:buNone/>
                      </a:pPr>
                      <a:r>
                        <a:rPr lang="en-US" sz="2000" b="1" dirty="0"/>
                        <a:t>Metric</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a:buNone/>
                      </a:pPr>
                      <a:r>
                        <a:rPr lang="en-US" sz="2000" b="1" dirty="0"/>
                        <a:t>Value</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4086955714"/>
                  </a:ext>
                </a:extLst>
              </a:tr>
              <a:tr h="399939">
                <a:tc>
                  <a:txBody>
                    <a:bodyPr/>
                    <a:lstStyle/>
                    <a:p>
                      <a:pPr>
                        <a:buNone/>
                      </a:pPr>
                      <a:r>
                        <a:rPr lang="en-US" sz="2000" dirty="0">
                          <a:solidFill>
                            <a:schemeClr val="bg1"/>
                          </a:solidFill>
                        </a:rPr>
                        <a:t>Employees</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a:buNone/>
                      </a:pPr>
                      <a:r>
                        <a:rPr lang="en-US" sz="2000" dirty="0">
                          <a:solidFill>
                            <a:schemeClr val="bg1"/>
                          </a:solidFill>
                        </a:rPr>
                        <a:t>870</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184905985"/>
                  </a:ext>
                </a:extLst>
              </a:tr>
              <a:tr h="399939">
                <a:tc>
                  <a:txBody>
                    <a:bodyPr/>
                    <a:lstStyle/>
                    <a:p>
                      <a:pPr>
                        <a:buNone/>
                      </a:pPr>
                      <a:r>
                        <a:rPr lang="en-US" sz="2000">
                          <a:solidFill>
                            <a:schemeClr val="bg1"/>
                          </a:solidFill>
                        </a:rPr>
                        <a:t>Variables</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a:buNone/>
                      </a:pPr>
                      <a:r>
                        <a:rPr lang="en-US" sz="2000" dirty="0">
                          <a:solidFill>
                            <a:schemeClr val="bg1"/>
                          </a:solidFill>
                        </a:rPr>
                        <a:t>36</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196731652"/>
                  </a:ext>
                </a:extLst>
              </a:tr>
              <a:tr h="399939">
                <a:tc>
                  <a:txBody>
                    <a:bodyPr/>
                    <a:lstStyle/>
                    <a:p>
                      <a:pPr>
                        <a:buNone/>
                      </a:pPr>
                      <a:r>
                        <a:rPr lang="en-US" sz="2000">
                          <a:solidFill>
                            <a:schemeClr val="bg1"/>
                          </a:solidFill>
                        </a:rPr>
                        <a:t>Employees Leaving</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a:buNone/>
                      </a:pPr>
                      <a:r>
                        <a:rPr lang="en-US" sz="2000" dirty="0">
                          <a:solidFill>
                            <a:schemeClr val="bg1"/>
                          </a:solidFill>
                        </a:rPr>
                        <a:t>140</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345931207"/>
                  </a:ext>
                </a:extLst>
              </a:tr>
              <a:tr h="399939">
                <a:tc>
                  <a:txBody>
                    <a:bodyPr/>
                    <a:lstStyle/>
                    <a:p>
                      <a:pPr>
                        <a:buNone/>
                      </a:pPr>
                      <a:r>
                        <a:rPr lang="en-US" sz="2000">
                          <a:solidFill>
                            <a:schemeClr val="bg1"/>
                          </a:solidFill>
                        </a:rPr>
                        <a:t>Attrition Rate</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r">
                        <a:buNone/>
                      </a:pPr>
                      <a:r>
                        <a:rPr lang="en-US" sz="2000" dirty="0">
                          <a:solidFill>
                            <a:schemeClr val="bg1"/>
                          </a:solidFill>
                        </a:rPr>
                        <a:t>16.1%</a:t>
                      </a:r>
                    </a:p>
                  </a:txBody>
                  <a:tcPr marL="99985" marR="99985" marT="49992" marB="49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29042480"/>
                  </a:ext>
                </a:extLst>
              </a:tr>
            </a:tbl>
          </a:graphicData>
        </a:graphic>
      </p:graphicFrame>
      <p:pic>
        <p:nvPicPr>
          <p:cNvPr id="11" name="Audio 10">
            <a:extLst>
              <a:ext uri="{FF2B5EF4-FFF2-40B4-BE49-F238E27FC236}">
                <a16:creationId xmlns:a16="http://schemas.microsoft.com/office/drawing/2014/main" id="{C2BE2698-21F8-6216-B387-E6D7CC3D5B23}"/>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571476418"/>
      </p:ext>
    </p:extLst>
  </p:cSld>
  <p:clrMapOvr>
    <a:masterClrMapping/>
  </p:clrMapOvr>
  <mc:AlternateContent xmlns:mc="http://schemas.openxmlformats.org/markup-compatibility/2006">
    <mc:Choice xmlns:p14="http://schemas.microsoft.com/office/powerpoint/2010/main" Requires="p14">
      <p:transition spd="slow" p14:dur="2000" advTm="34692"/>
    </mc:Choice>
    <mc:Fallback>
      <p:transition spd="slow" advTm="346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1+#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8" fill="hold" display="0">
                  <p:stCondLst>
                    <p:cond delay="indefinite"/>
                  </p:stCondLst>
                  <p:endCondLst>
                    <p:cond evt="onStopAudio" delay="0">
                      <p:tgtEl>
                        <p:sldTgt/>
                      </p:tgtEl>
                    </p:cond>
                  </p:endCondLst>
                </p:cTn>
                <p:tgtEl>
                  <p:spTgt spid="11"/>
                </p:tgtEl>
              </p:cMediaNode>
            </p:audio>
          </p:childTnLst>
        </p:cTn>
      </p:par>
    </p:tnLst>
    <p:bldLst>
      <p:bldP spid="4" grpId="0" animBg="1"/>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5D34-3423-5138-92F2-8C85CFAC1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F0AA1-30BF-6238-BAB3-C0FF89767798}"/>
              </a:ext>
            </a:extLst>
          </p:cNvPr>
          <p:cNvSpPr>
            <a:spLocks noGrp="1"/>
          </p:cNvSpPr>
          <p:nvPr>
            <p:ph type="title"/>
          </p:nvPr>
        </p:nvSpPr>
        <p:spPr/>
        <p:txBody>
          <a:bodyPr>
            <a:noAutofit/>
          </a:bodyPr>
          <a:lstStyle/>
          <a:p>
            <a:r>
              <a:rPr lang="en-US" sz="2800" dirty="0"/>
              <a:t>Objective: </a:t>
            </a:r>
            <a:r>
              <a:rPr lang="en-US" sz="2200" dirty="0"/>
              <a:t>Data Overview</a:t>
            </a:r>
          </a:p>
        </p:txBody>
      </p:sp>
      <p:sp>
        <p:nvSpPr>
          <p:cNvPr id="3" name="Content Placeholder 2">
            <a:extLst>
              <a:ext uri="{FF2B5EF4-FFF2-40B4-BE49-F238E27FC236}">
                <a16:creationId xmlns:a16="http://schemas.microsoft.com/office/drawing/2014/main" id="{86181C19-9ED8-19F5-68C2-4FEC5A2C3647}"/>
              </a:ext>
            </a:extLst>
          </p:cNvPr>
          <p:cNvSpPr>
            <a:spLocks noGrp="1"/>
          </p:cNvSpPr>
          <p:nvPr>
            <p:ph idx="1"/>
          </p:nvPr>
        </p:nvSpPr>
        <p:spPr>
          <a:xfrm>
            <a:off x="533399" y="1763714"/>
            <a:ext cx="4573860" cy="4713284"/>
          </a:xfrm>
        </p:spPr>
        <p:txBody>
          <a:bodyPr>
            <a:normAutofit/>
          </a:bodyPr>
          <a:lstStyle/>
          <a:p>
            <a:pPr marL="0" indent="0">
              <a:buNone/>
            </a:pPr>
            <a:r>
              <a:rPr lang="en-US" sz="1600" b="1" u="sng" dirty="0"/>
              <a:t>Variable Categories</a:t>
            </a:r>
            <a:r>
              <a:rPr lang="en-US" sz="1600" b="1" dirty="0"/>
              <a:t>: </a:t>
            </a:r>
          </a:p>
          <a:p>
            <a:r>
              <a:rPr lang="en-US" sz="1600" b="1" dirty="0"/>
              <a:t>Employee Demographics</a:t>
            </a:r>
            <a:br>
              <a:rPr lang="en-US" sz="1600" dirty="0"/>
            </a:br>
            <a:r>
              <a:rPr lang="en-US" sz="1600" dirty="0"/>
              <a:t>Age, Gender, Education</a:t>
            </a:r>
          </a:p>
          <a:p>
            <a:r>
              <a:rPr lang="en-US" sz="1600" b="1" dirty="0"/>
              <a:t>Job Characteristics</a:t>
            </a:r>
            <a:br>
              <a:rPr lang="en-US" sz="1600" dirty="0"/>
            </a:br>
            <a:r>
              <a:rPr lang="en-US" sz="1600" dirty="0"/>
              <a:t>Job Role, Job Level, Overtime, Department</a:t>
            </a:r>
          </a:p>
          <a:p>
            <a:r>
              <a:rPr lang="en-US" sz="1600" b="1" dirty="0"/>
              <a:t>Satisfaction</a:t>
            </a:r>
            <a:br>
              <a:rPr lang="en-US" sz="1600" dirty="0"/>
            </a:br>
            <a:r>
              <a:rPr lang="en-US" sz="1600" dirty="0"/>
              <a:t>Job Satisfaction, Environment Satisfaction, Work-Life Balance</a:t>
            </a:r>
          </a:p>
          <a:p>
            <a:r>
              <a:rPr lang="en-US" sz="1600" b="1" dirty="0"/>
              <a:t>Compensation</a:t>
            </a:r>
            <a:br>
              <a:rPr lang="en-US" sz="1600" dirty="0"/>
            </a:br>
            <a:r>
              <a:rPr lang="en-US" sz="1600" dirty="0"/>
              <a:t>Monthly Income, Salary Hike, Stock Options</a:t>
            </a:r>
          </a:p>
          <a:p>
            <a:r>
              <a:rPr lang="en-US" sz="1600" b="1" dirty="0"/>
              <a:t>Experience</a:t>
            </a:r>
            <a:br>
              <a:rPr lang="en-US" sz="1600" dirty="0"/>
            </a:br>
            <a:r>
              <a:rPr lang="en-US" sz="1600" dirty="0"/>
              <a:t>Years at Company, Total Working Years, Years in Current Role</a:t>
            </a:r>
          </a:p>
          <a:p>
            <a:endParaRPr lang="en-US" sz="1600" dirty="0"/>
          </a:p>
        </p:txBody>
      </p:sp>
      <p:pic>
        <p:nvPicPr>
          <p:cNvPr id="5" name="Picture 4">
            <a:extLst>
              <a:ext uri="{FF2B5EF4-FFF2-40B4-BE49-F238E27FC236}">
                <a16:creationId xmlns:a16="http://schemas.microsoft.com/office/drawing/2014/main" id="{84C5BB21-5E77-15AE-3C19-4F161EEBAB06}"/>
              </a:ext>
            </a:extLst>
          </p:cNvPr>
          <p:cNvPicPr>
            <a:picLocks noChangeAspect="1"/>
          </p:cNvPicPr>
          <p:nvPr/>
        </p:nvPicPr>
        <p:blipFill>
          <a:blip r:embed="rId6"/>
          <a:stretch>
            <a:fillRect/>
          </a:stretch>
        </p:blipFill>
        <p:spPr>
          <a:xfrm>
            <a:off x="5107259" y="1479060"/>
            <a:ext cx="6770976" cy="4916669"/>
          </a:xfrm>
          <a:prstGeom prst="rect">
            <a:avLst/>
          </a:prstGeom>
        </p:spPr>
      </p:pic>
      <p:sp>
        <p:nvSpPr>
          <p:cNvPr id="6" name="TextBox 5">
            <a:extLst>
              <a:ext uri="{FF2B5EF4-FFF2-40B4-BE49-F238E27FC236}">
                <a16:creationId xmlns:a16="http://schemas.microsoft.com/office/drawing/2014/main" id="{BE5DE4AD-716A-8611-9467-3F136A31A186}"/>
              </a:ext>
            </a:extLst>
          </p:cNvPr>
          <p:cNvSpPr txBox="1">
            <a:spLocks/>
          </p:cNvSpPr>
          <p:nvPr/>
        </p:nvSpPr>
        <p:spPr>
          <a:xfrm>
            <a:off x="7706584" y="4648739"/>
            <a:ext cx="4952998" cy="369332"/>
          </a:xfrm>
          <a:prstGeom prst="rect">
            <a:avLst/>
          </a:prstGeom>
          <a:noFill/>
        </p:spPr>
        <p:txBody>
          <a:bodyPr wrap="square" rtlCol="0">
            <a:spAutoFit/>
          </a:bodyPr>
          <a:lstStyle/>
          <a:p>
            <a:r>
              <a:rPr lang="en-US" dirty="0"/>
              <a:t>	Only 16.1% of employees left.</a:t>
            </a:r>
          </a:p>
        </p:txBody>
      </p:sp>
      <p:pic>
        <p:nvPicPr>
          <p:cNvPr id="13" name="Audio 12">
            <a:extLst>
              <a:ext uri="{FF2B5EF4-FFF2-40B4-BE49-F238E27FC236}">
                <a16:creationId xmlns:a16="http://schemas.microsoft.com/office/drawing/2014/main" id="{9030AFD6-1898-AA60-C5D2-B7064F2BA43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269630808"/>
      </p:ext>
    </p:extLst>
  </p:cSld>
  <p:clrMapOvr>
    <a:masterClrMapping/>
  </p:clrMapOvr>
  <mc:AlternateContent xmlns:mc="http://schemas.openxmlformats.org/markup-compatibility/2006">
    <mc:Choice xmlns:p14="http://schemas.microsoft.com/office/powerpoint/2010/main" Requires="p14">
      <p:transition spd="slow" p14:dur="2000" advTm="34636"/>
    </mc:Choice>
    <mc:Fallback>
      <p:transition spd="slow" advTm="346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par>
                                <p:cTn id="7" presetID="2" presetClass="entr" presetSubtype="4" fill="hold" grpId="1"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 calcmode="lin" valueType="num">
                                      <p:cBhvr additive="base">
                                        <p:cTn id="9" dur="2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0" dur="2000" fill="hold"/>
                                        <p:tgtEl>
                                          <p:spTgt spid="3">
                                            <p:txEl>
                                              <p:pRg st="0" end="0"/>
                                            </p:txEl>
                                          </p:spTgt>
                                        </p:tgtEl>
                                        <p:attrNameLst>
                                          <p:attrName>ppt_y</p:attrName>
                                        </p:attrNameLst>
                                      </p:cBhvr>
                                      <p:tavLst>
                                        <p:tav tm="0">
                                          <p:val>
                                            <p:strVal val="1+#ppt_h/2"/>
                                          </p:val>
                                        </p:tav>
                                        <p:tav tm="100000">
                                          <p:val>
                                            <p:strVal val="#ppt_y"/>
                                          </p:val>
                                        </p:tav>
                                      </p:tavLst>
                                    </p:anim>
                                  </p:childTnLst>
                                </p:cTn>
                              </p:par>
                              <p:par>
                                <p:cTn id="11" presetID="2" presetClass="entr" presetSubtype="4" fill="hold" grpId="1"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2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1"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2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20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2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20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2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2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2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3"/>
                </p:tgtEl>
              </p:cMediaNode>
            </p:audio>
          </p:childTnLst>
        </p:cTn>
      </p:par>
    </p:tnLst>
    <p:bldLst>
      <p:bldP spid="3" grpId="1" build="p"/>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7CB8-0C75-3969-C4BA-839C792D6F3B}"/>
              </a:ext>
            </a:extLst>
          </p:cNvPr>
          <p:cNvSpPr>
            <a:spLocks noGrp="1"/>
          </p:cNvSpPr>
          <p:nvPr>
            <p:ph type="title"/>
          </p:nvPr>
        </p:nvSpPr>
        <p:spPr/>
        <p:txBody>
          <a:bodyPr>
            <a:noAutofit/>
          </a:bodyPr>
          <a:lstStyle/>
          <a:p>
            <a:r>
              <a:rPr lang="en-US" sz="2800" dirty="0"/>
              <a:t>EDA: </a:t>
            </a:r>
            <a:r>
              <a:rPr lang="en-US" sz="2200" dirty="0"/>
              <a:t>factors showing elevated attrition </a:t>
            </a:r>
          </a:p>
        </p:txBody>
      </p:sp>
      <p:sp>
        <p:nvSpPr>
          <p:cNvPr id="3" name="Content Placeholder 2">
            <a:extLst>
              <a:ext uri="{FF2B5EF4-FFF2-40B4-BE49-F238E27FC236}">
                <a16:creationId xmlns:a16="http://schemas.microsoft.com/office/drawing/2014/main" id="{5755415C-011F-C274-2EA2-2A443B4D52AE}"/>
              </a:ext>
            </a:extLst>
          </p:cNvPr>
          <p:cNvSpPr>
            <a:spLocks noGrp="1"/>
          </p:cNvSpPr>
          <p:nvPr>
            <p:ph idx="1"/>
          </p:nvPr>
        </p:nvSpPr>
        <p:spPr>
          <a:xfrm>
            <a:off x="533398" y="6111241"/>
            <a:ext cx="11242290" cy="746759"/>
          </a:xfrm>
        </p:spPr>
        <p:txBody>
          <a:bodyPr>
            <a:normAutofit/>
          </a:bodyPr>
          <a:lstStyle/>
          <a:p>
            <a:pPr marL="0" indent="0">
              <a:buNone/>
            </a:pPr>
            <a:r>
              <a:rPr lang="en-US" sz="1600" b="1" dirty="0">
                <a:solidFill>
                  <a:schemeClr val="tx1"/>
                </a:solidFill>
              </a:rPr>
              <a:t>Preliminary finding:</a:t>
            </a:r>
            <a:r>
              <a:rPr lang="en-US" sz="1600" dirty="0">
                <a:solidFill>
                  <a:schemeClr val="tx1"/>
                </a:solidFill>
              </a:rPr>
              <a:t> Employees working overtime, employees in certain job roles, and employees reporting poor work-life balance show substantially higher attrition rates.</a:t>
            </a:r>
          </a:p>
        </p:txBody>
      </p:sp>
      <p:pic>
        <p:nvPicPr>
          <p:cNvPr id="4" name="Picture 3">
            <a:extLst>
              <a:ext uri="{FF2B5EF4-FFF2-40B4-BE49-F238E27FC236}">
                <a16:creationId xmlns:a16="http://schemas.microsoft.com/office/drawing/2014/main" id="{1894C808-F78E-68CB-F9B7-886D5CBC48E2}"/>
              </a:ext>
            </a:extLst>
          </p:cNvPr>
          <p:cNvPicPr>
            <a:picLocks noChangeAspect="1"/>
          </p:cNvPicPr>
          <p:nvPr/>
        </p:nvPicPr>
        <p:blipFill>
          <a:blip r:embed="rId6"/>
          <a:stretch>
            <a:fillRect/>
          </a:stretch>
        </p:blipFill>
        <p:spPr>
          <a:xfrm>
            <a:off x="85388" y="1763714"/>
            <a:ext cx="3969983" cy="2823635"/>
          </a:xfrm>
          <a:prstGeom prst="rect">
            <a:avLst/>
          </a:prstGeom>
        </p:spPr>
      </p:pic>
      <p:pic>
        <p:nvPicPr>
          <p:cNvPr id="5" name="Picture 4">
            <a:extLst>
              <a:ext uri="{FF2B5EF4-FFF2-40B4-BE49-F238E27FC236}">
                <a16:creationId xmlns:a16="http://schemas.microsoft.com/office/drawing/2014/main" id="{21B8C0D1-F265-3C4F-FC7D-F267DB613C35}"/>
              </a:ext>
            </a:extLst>
          </p:cNvPr>
          <p:cNvPicPr>
            <a:picLocks noChangeAspect="1"/>
          </p:cNvPicPr>
          <p:nvPr/>
        </p:nvPicPr>
        <p:blipFill>
          <a:blip r:embed="rId7"/>
          <a:stretch>
            <a:fillRect/>
          </a:stretch>
        </p:blipFill>
        <p:spPr>
          <a:xfrm>
            <a:off x="4111009" y="1763713"/>
            <a:ext cx="3969981" cy="2823635"/>
          </a:xfrm>
          <a:prstGeom prst="rect">
            <a:avLst/>
          </a:prstGeom>
        </p:spPr>
      </p:pic>
      <p:pic>
        <p:nvPicPr>
          <p:cNvPr id="6" name="Picture 5">
            <a:extLst>
              <a:ext uri="{FF2B5EF4-FFF2-40B4-BE49-F238E27FC236}">
                <a16:creationId xmlns:a16="http://schemas.microsoft.com/office/drawing/2014/main" id="{3B15E085-3A3A-EF3D-DD27-1774FC97D402}"/>
              </a:ext>
            </a:extLst>
          </p:cNvPr>
          <p:cNvPicPr>
            <a:picLocks noChangeAspect="1"/>
          </p:cNvPicPr>
          <p:nvPr/>
        </p:nvPicPr>
        <p:blipFill>
          <a:blip r:embed="rId8"/>
          <a:stretch>
            <a:fillRect/>
          </a:stretch>
        </p:blipFill>
        <p:spPr>
          <a:xfrm>
            <a:off x="8136628" y="1763713"/>
            <a:ext cx="3969981" cy="2823635"/>
          </a:xfrm>
          <a:prstGeom prst="rect">
            <a:avLst/>
          </a:prstGeom>
        </p:spPr>
      </p:pic>
      <p:sp>
        <p:nvSpPr>
          <p:cNvPr id="7" name="TextBox 6">
            <a:extLst>
              <a:ext uri="{FF2B5EF4-FFF2-40B4-BE49-F238E27FC236}">
                <a16:creationId xmlns:a16="http://schemas.microsoft.com/office/drawing/2014/main" id="{75835755-8A3F-6DA4-ADBB-E65747C390CD}"/>
              </a:ext>
            </a:extLst>
          </p:cNvPr>
          <p:cNvSpPr txBox="1"/>
          <p:nvPr/>
        </p:nvSpPr>
        <p:spPr>
          <a:xfrm>
            <a:off x="170780" y="4979962"/>
            <a:ext cx="3799197" cy="738664"/>
          </a:xfrm>
          <a:prstGeom prst="rect">
            <a:avLst/>
          </a:prstGeom>
          <a:noFill/>
        </p:spPr>
        <p:txBody>
          <a:bodyPr wrap="square" rtlCol="0">
            <a:spAutoFit/>
          </a:bodyPr>
          <a:lstStyle/>
          <a:p>
            <a:pPr algn="ctr"/>
            <a:r>
              <a:rPr lang="en-US" sz="1400" b="1" dirty="0"/>
              <a:t>Overtime</a:t>
            </a:r>
            <a:r>
              <a:rPr lang="en-US" sz="1400" dirty="0"/>
              <a:t>: 31.8% vs. 9.7%</a:t>
            </a:r>
          </a:p>
          <a:p>
            <a:pPr algn="ctr"/>
            <a:r>
              <a:rPr lang="en-US" sz="1400" dirty="0"/>
              <a:t>3.3× higher attrition among overtime employees</a:t>
            </a:r>
          </a:p>
        </p:txBody>
      </p:sp>
      <p:sp>
        <p:nvSpPr>
          <p:cNvPr id="8" name="TextBox 7">
            <a:extLst>
              <a:ext uri="{FF2B5EF4-FFF2-40B4-BE49-F238E27FC236}">
                <a16:creationId xmlns:a16="http://schemas.microsoft.com/office/drawing/2014/main" id="{96E9E271-494C-028B-441E-8315435B247E}"/>
              </a:ext>
            </a:extLst>
          </p:cNvPr>
          <p:cNvSpPr txBox="1"/>
          <p:nvPr/>
        </p:nvSpPr>
        <p:spPr>
          <a:xfrm>
            <a:off x="4196396" y="4979962"/>
            <a:ext cx="3799197" cy="738664"/>
          </a:xfrm>
          <a:prstGeom prst="rect">
            <a:avLst/>
          </a:prstGeom>
          <a:noFill/>
        </p:spPr>
        <p:txBody>
          <a:bodyPr wrap="square" rtlCol="0">
            <a:spAutoFit/>
          </a:bodyPr>
          <a:lstStyle/>
          <a:p>
            <a:pPr algn="ctr"/>
            <a:r>
              <a:rPr lang="en-US" sz="1400" b="1" dirty="0"/>
              <a:t>Job Role: </a:t>
            </a:r>
            <a:r>
              <a:rPr lang="en-US" sz="1400" dirty="0"/>
              <a:t>Sales Representatives have dramatically higher attrition than other job roles</a:t>
            </a:r>
          </a:p>
        </p:txBody>
      </p:sp>
      <p:sp>
        <p:nvSpPr>
          <p:cNvPr id="9" name="TextBox 8">
            <a:extLst>
              <a:ext uri="{FF2B5EF4-FFF2-40B4-BE49-F238E27FC236}">
                <a16:creationId xmlns:a16="http://schemas.microsoft.com/office/drawing/2014/main" id="{67891612-8C5C-2021-D077-19D79617ECEB}"/>
              </a:ext>
            </a:extLst>
          </p:cNvPr>
          <p:cNvSpPr txBox="1"/>
          <p:nvPr/>
        </p:nvSpPr>
        <p:spPr>
          <a:xfrm>
            <a:off x="8222012" y="4979961"/>
            <a:ext cx="3799197" cy="738664"/>
          </a:xfrm>
          <a:prstGeom prst="rect">
            <a:avLst/>
          </a:prstGeom>
          <a:noFill/>
        </p:spPr>
        <p:txBody>
          <a:bodyPr wrap="square" rtlCol="0">
            <a:spAutoFit/>
          </a:bodyPr>
          <a:lstStyle/>
          <a:p>
            <a:pPr algn="ctr"/>
            <a:r>
              <a:rPr lang="en-US" sz="1400" b="1" dirty="0"/>
              <a:t>Work-Life Balance: </a:t>
            </a:r>
            <a:r>
              <a:rPr lang="en-US" sz="1400" dirty="0"/>
              <a:t>Employees reporting the lowest work-life balance have a 35.4% attrition rate, </a:t>
            </a:r>
          </a:p>
        </p:txBody>
      </p:sp>
      <p:pic>
        <p:nvPicPr>
          <p:cNvPr id="25" name="Audio 24">
            <a:extLst>
              <a:ext uri="{FF2B5EF4-FFF2-40B4-BE49-F238E27FC236}">
                <a16:creationId xmlns:a16="http://schemas.microsoft.com/office/drawing/2014/main" id="{B48DB533-1DCB-6798-0EB0-DC303DFD21F1}"/>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919575041"/>
      </p:ext>
    </p:extLst>
  </p:cSld>
  <p:clrMapOvr>
    <a:masterClrMapping/>
  </p:clrMapOvr>
  <mc:AlternateContent xmlns:mc="http://schemas.openxmlformats.org/markup-compatibility/2006">
    <mc:Choice xmlns:p14="http://schemas.microsoft.com/office/powerpoint/2010/main" Requires="p14">
      <p:transition spd="slow" p14:dur="2000" advTm="30538"/>
    </mc:Choice>
    <mc:Fallback>
      <p:transition spd="slow" advTm="305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0-#ppt_h/2"/>
                                          </p:val>
                                        </p:tav>
                                        <p:tav tm="100000">
                                          <p:val>
                                            <p:strVal val="#ppt_y"/>
                                          </p:val>
                                        </p:tav>
                                      </p:tavLst>
                                    </p:anim>
                                  </p:childTnLst>
                                </p:cTn>
                              </p:par>
                              <p:par>
                                <p:cTn id="23" presetID="2"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1+#ppt_w/2"/>
                                          </p:val>
                                        </p:tav>
                                        <p:tav tm="100000">
                                          <p:val>
                                            <p:strVal val="#ppt_x"/>
                                          </p:val>
                                        </p:tav>
                                      </p:tavLst>
                                    </p:anim>
                                    <p:anim calcmode="lin" valueType="num">
                                      <p:cBhvr additive="base">
                                        <p:cTn id="3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anim calcmode="lin" valueType="num">
                                      <p:cBhvr additive="base">
                                        <p:cTn id="4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3" fill="hold" display="0">
                  <p:stCondLst>
                    <p:cond delay="indefinite"/>
                  </p:stCondLst>
                  <p:endCondLst>
                    <p:cond evt="onStopAudio" delay="0">
                      <p:tgtEl>
                        <p:sldTgt/>
                      </p:tgtEl>
                    </p:cond>
                  </p:endCondLst>
                </p:cTn>
                <p:tgtEl>
                  <p:spTgt spid="25"/>
                </p:tgtEl>
              </p:cMediaNode>
            </p:audio>
          </p:childTnLst>
        </p:cTn>
      </p:par>
    </p:tnLst>
    <p:bldLst>
      <p:bldP spid="3" grpId="0" build="p"/>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D99B2-CE7B-A100-A3BF-A7F49795109A}"/>
              </a:ext>
            </a:extLst>
          </p:cNvPr>
          <p:cNvSpPr>
            <a:spLocks noGrp="1"/>
          </p:cNvSpPr>
          <p:nvPr>
            <p:ph type="title"/>
          </p:nvPr>
        </p:nvSpPr>
        <p:spPr/>
        <p:txBody>
          <a:bodyPr>
            <a:normAutofit/>
          </a:bodyPr>
          <a:lstStyle/>
          <a:p>
            <a:r>
              <a:rPr lang="en-US" sz="2800" dirty="0"/>
              <a:t>EDA: </a:t>
            </a:r>
            <a:r>
              <a:rPr lang="en-US" sz="2200" dirty="0"/>
              <a:t>Top predictors of attrition</a:t>
            </a:r>
          </a:p>
        </p:txBody>
      </p:sp>
      <p:sp>
        <p:nvSpPr>
          <p:cNvPr id="3" name="Content Placeholder 2">
            <a:extLst>
              <a:ext uri="{FF2B5EF4-FFF2-40B4-BE49-F238E27FC236}">
                <a16:creationId xmlns:a16="http://schemas.microsoft.com/office/drawing/2014/main" id="{02764FA9-4FCE-4EA8-5FCC-FE01CACE0D2D}"/>
              </a:ext>
            </a:extLst>
          </p:cNvPr>
          <p:cNvSpPr>
            <a:spLocks noGrp="1"/>
          </p:cNvSpPr>
          <p:nvPr>
            <p:ph idx="1"/>
          </p:nvPr>
        </p:nvSpPr>
        <p:spPr>
          <a:xfrm>
            <a:off x="533397" y="6038425"/>
            <a:ext cx="11125202" cy="568564"/>
          </a:xfrm>
        </p:spPr>
        <p:txBody>
          <a:bodyPr>
            <a:normAutofit lnSpcReduction="10000"/>
          </a:bodyPr>
          <a:lstStyle/>
          <a:p>
            <a:pPr marL="0" indent="0">
              <a:buNone/>
            </a:pPr>
            <a:r>
              <a:rPr lang="en-US" sz="1800" dirty="0"/>
              <a:t>Univariate screening identified additional significant factors, but multivariable logistic regression was used to determine which factors remained independently associated.</a:t>
            </a:r>
          </a:p>
        </p:txBody>
      </p:sp>
      <p:pic>
        <p:nvPicPr>
          <p:cNvPr id="9" name="Picture 8">
            <a:extLst>
              <a:ext uri="{FF2B5EF4-FFF2-40B4-BE49-F238E27FC236}">
                <a16:creationId xmlns:a16="http://schemas.microsoft.com/office/drawing/2014/main" id="{8298AADB-57C5-DCBE-C25F-DE4F70728233}"/>
              </a:ext>
            </a:extLst>
          </p:cNvPr>
          <p:cNvPicPr>
            <a:picLocks noChangeAspect="1"/>
          </p:cNvPicPr>
          <p:nvPr/>
        </p:nvPicPr>
        <p:blipFill>
          <a:blip r:embed="rId6"/>
          <a:stretch>
            <a:fillRect/>
          </a:stretch>
        </p:blipFill>
        <p:spPr>
          <a:xfrm>
            <a:off x="219633" y="1763714"/>
            <a:ext cx="11752730" cy="4179921"/>
          </a:xfrm>
          <a:prstGeom prst="rect">
            <a:avLst/>
          </a:prstGeom>
        </p:spPr>
      </p:pic>
      <p:pic>
        <p:nvPicPr>
          <p:cNvPr id="17" name="Audio 16">
            <a:extLst>
              <a:ext uri="{FF2B5EF4-FFF2-40B4-BE49-F238E27FC236}">
                <a16:creationId xmlns:a16="http://schemas.microsoft.com/office/drawing/2014/main" id="{990C971C-8D6F-7A07-91E5-2A350ACA89FC}"/>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823069816"/>
      </p:ext>
    </p:extLst>
  </p:cSld>
  <p:clrMapOvr>
    <a:masterClrMapping/>
  </p:clrMapOvr>
  <mc:AlternateContent xmlns:mc="http://schemas.openxmlformats.org/markup-compatibility/2006">
    <mc:Choice xmlns:p14="http://schemas.microsoft.com/office/powerpoint/2010/main" Requires="p14">
      <p:transition spd="slow" p14:dur="2000" advTm="65963"/>
    </mc:Choice>
    <mc:Fallback>
      <p:transition spd="slow" advTm="659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checkerboard(across)">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dissolve">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17"/>
                </p:tgtEl>
              </p:cMediaNode>
            </p:audio>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7DC4-92B3-6432-FA7C-157C1508694A}"/>
              </a:ext>
            </a:extLst>
          </p:cNvPr>
          <p:cNvSpPr>
            <a:spLocks noGrp="1"/>
          </p:cNvSpPr>
          <p:nvPr>
            <p:ph type="title"/>
          </p:nvPr>
        </p:nvSpPr>
        <p:spPr>
          <a:xfrm>
            <a:off x="533398" y="901341"/>
            <a:ext cx="11125201" cy="746759"/>
          </a:xfrm>
        </p:spPr>
        <p:txBody>
          <a:bodyPr/>
          <a:lstStyle/>
          <a:p>
            <a:r>
              <a:rPr lang="en-US" sz="2800" dirty="0"/>
              <a:t>EDA:</a:t>
            </a:r>
            <a:r>
              <a:rPr lang="en-US" sz="4000" dirty="0"/>
              <a:t> </a:t>
            </a:r>
            <a:r>
              <a:rPr lang="en-US" sz="2200" dirty="0"/>
              <a:t>top 3 factors</a:t>
            </a:r>
          </a:p>
        </p:txBody>
      </p:sp>
      <p:graphicFrame>
        <p:nvGraphicFramePr>
          <p:cNvPr id="4" name="Table 3">
            <a:extLst>
              <a:ext uri="{FF2B5EF4-FFF2-40B4-BE49-F238E27FC236}">
                <a16:creationId xmlns:a16="http://schemas.microsoft.com/office/drawing/2014/main" id="{B2F8A09C-4320-4FA4-9F33-9282ED8D4B63}"/>
              </a:ext>
            </a:extLst>
          </p:cNvPr>
          <p:cNvGraphicFramePr>
            <a:graphicFrameLocks noGrp="1"/>
          </p:cNvGraphicFramePr>
          <p:nvPr>
            <p:extLst>
              <p:ext uri="{D42A27DB-BD31-4B8C-83A1-F6EECF244321}">
                <p14:modId xmlns:p14="http://schemas.microsoft.com/office/powerpoint/2010/main" val="821327659"/>
              </p:ext>
            </p:extLst>
          </p:nvPr>
        </p:nvGraphicFramePr>
        <p:xfrm>
          <a:off x="770965" y="1648100"/>
          <a:ext cx="10286238" cy="1567240"/>
        </p:xfrm>
        <a:graphic>
          <a:graphicData uri="http://schemas.openxmlformats.org/drawingml/2006/table">
            <a:tbl>
              <a:tblPr>
                <a:tableStyleId>{18603FDC-E32A-4AB5-989C-0864C3EAD2B8}</a:tableStyleId>
              </a:tblPr>
              <a:tblGrid>
                <a:gridCol w="3428746">
                  <a:extLst>
                    <a:ext uri="{9D8B030D-6E8A-4147-A177-3AD203B41FA5}">
                      <a16:colId xmlns:a16="http://schemas.microsoft.com/office/drawing/2014/main" val="4222981183"/>
                    </a:ext>
                  </a:extLst>
                </a:gridCol>
                <a:gridCol w="3428746">
                  <a:extLst>
                    <a:ext uri="{9D8B030D-6E8A-4147-A177-3AD203B41FA5}">
                      <a16:colId xmlns:a16="http://schemas.microsoft.com/office/drawing/2014/main" val="4033220824"/>
                    </a:ext>
                  </a:extLst>
                </a:gridCol>
                <a:gridCol w="3428746">
                  <a:extLst>
                    <a:ext uri="{9D8B030D-6E8A-4147-A177-3AD203B41FA5}">
                      <a16:colId xmlns:a16="http://schemas.microsoft.com/office/drawing/2014/main" val="3855842529"/>
                    </a:ext>
                  </a:extLst>
                </a:gridCol>
              </a:tblGrid>
              <a:tr h="251268">
                <a:tc>
                  <a:txBody>
                    <a:bodyPr/>
                    <a:lstStyle/>
                    <a:p>
                      <a:pPr>
                        <a:buNone/>
                      </a:pPr>
                      <a:r>
                        <a:rPr lang="en-US" sz="1400" b="1" dirty="0">
                          <a:solidFill>
                            <a:schemeClr val="tx1"/>
                          </a:solidFill>
                        </a:rPr>
                        <a:t>Factor</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a:solidFill>
                            <a:schemeClr val="tx1"/>
                          </a:solidFill>
                        </a:rPr>
                        <a:t>Evidence</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solidFill>
                            <a:schemeClr val="tx1"/>
                          </a:solidFill>
                        </a:rPr>
                        <a:t>Key Finding</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325638"/>
                  </a:ext>
                </a:extLst>
              </a:tr>
              <a:tr h="251268">
                <a:tc>
                  <a:txBody>
                    <a:bodyPr/>
                    <a:lstStyle/>
                    <a:p>
                      <a:pPr>
                        <a:buNone/>
                      </a:pPr>
                      <a:r>
                        <a:rPr lang="en-US" sz="1400" dirty="0" err="1">
                          <a:solidFill>
                            <a:schemeClr val="bg1"/>
                          </a:solidFill>
                        </a:rPr>
                        <a:t>OverTime</a:t>
                      </a:r>
                      <a:endParaRPr lang="en-US" sz="1400" dirty="0">
                        <a:solidFill>
                          <a:schemeClr val="bg1"/>
                        </a:solidFill>
                      </a:endParaRP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solidFill>
                            <a:schemeClr val="bg1"/>
                          </a:solidFill>
                        </a:rPr>
                        <a:t>p &lt; 0.001</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solidFill>
                            <a:schemeClr val="bg1"/>
                          </a:solidFill>
                        </a:rPr>
                        <a:t>~5.3× higher odds of attrition</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975937"/>
                  </a:ext>
                </a:extLst>
              </a:tr>
              <a:tr h="439718">
                <a:tc>
                  <a:txBody>
                    <a:bodyPr/>
                    <a:lstStyle/>
                    <a:p>
                      <a:pPr>
                        <a:buNone/>
                      </a:pPr>
                      <a:r>
                        <a:rPr lang="en-US" sz="1400" dirty="0">
                          <a:solidFill>
                            <a:schemeClr val="bg1"/>
                          </a:solidFill>
                        </a:rPr>
                        <a:t>Job Involvement</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solidFill>
                            <a:schemeClr val="bg1"/>
                          </a:solidFill>
                        </a:rPr>
                        <a:t>p &lt; 0.001</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solidFill>
                            <a:schemeClr val="bg1"/>
                          </a:solidFill>
                        </a:rPr>
                        <a:t>Higher involvement associated with lower attrition</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795301"/>
                  </a:ext>
                </a:extLst>
              </a:tr>
              <a:tr h="439718">
                <a:tc>
                  <a:txBody>
                    <a:bodyPr/>
                    <a:lstStyle/>
                    <a:p>
                      <a:pPr>
                        <a:buNone/>
                      </a:pPr>
                      <a:r>
                        <a:rPr lang="en-US" sz="1400" dirty="0">
                          <a:solidFill>
                            <a:schemeClr val="bg1"/>
                          </a:solidFill>
                        </a:rPr>
                        <a:t>Stock Option Level</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solidFill>
                            <a:schemeClr val="bg1"/>
                          </a:solidFill>
                        </a:rPr>
                        <a:t>p &lt; 0.01 for Levels 1 &amp; 2</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solidFill>
                            <a:schemeClr val="bg1"/>
                          </a:solidFill>
                        </a:rPr>
                        <a:t>Significant Differences across benefit levels</a:t>
                      </a:r>
                    </a:p>
                  </a:txBody>
                  <a:tcPr marL="71773" marR="71773" marT="35885" marB="358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817101"/>
                  </a:ext>
                </a:extLst>
              </a:tr>
            </a:tbl>
          </a:graphicData>
        </a:graphic>
      </p:graphicFrame>
      <p:pic>
        <p:nvPicPr>
          <p:cNvPr id="10" name="Picture 9">
            <a:extLst>
              <a:ext uri="{FF2B5EF4-FFF2-40B4-BE49-F238E27FC236}">
                <a16:creationId xmlns:a16="http://schemas.microsoft.com/office/drawing/2014/main" id="{FF0438CB-964A-0ACE-5466-849AEF0FE149}"/>
              </a:ext>
            </a:extLst>
          </p:cNvPr>
          <p:cNvPicPr>
            <a:picLocks noChangeAspect="1"/>
          </p:cNvPicPr>
          <p:nvPr/>
        </p:nvPicPr>
        <p:blipFill>
          <a:blip r:embed="rId6"/>
          <a:stretch>
            <a:fillRect/>
          </a:stretch>
        </p:blipFill>
        <p:spPr>
          <a:xfrm>
            <a:off x="4091228" y="3429000"/>
            <a:ext cx="3969981" cy="2823635"/>
          </a:xfrm>
          <a:prstGeom prst="rect">
            <a:avLst/>
          </a:prstGeom>
        </p:spPr>
      </p:pic>
      <p:pic>
        <p:nvPicPr>
          <p:cNvPr id="11" name="Picture 10">
            <a:extLst>
              <a:ext uri="{FF2B5EF4-FFF2-40B4-BE49-F238E27FC236}">
                <a16:creationId xmlns:a16="http://schemas.microsoft.com/office/drawing/2014/main" id="{66D4FAD5-F9EF-4030-D6AD-DCF79933BDAB}"/>
              </a:ext>
            </a:extLst>
          </p:cNvPr>
          <p:cNvPicPr>
            <a:picLocks noChangeAspect="1"/>
          </p:cNvPicPr>
          <p:nvPr/>
        </p:nvPicPr>
        <p:blipFill>
          <a:blip r:embed="rId7"/>
          <a:stretch>
            <a:fillRect/>
          </a:stretch>
        </p:blipFill>
        <p:spPr>
          <a:xfrm>
            <a:off x="40563" y="3428999"/>
            <a:ext cx="3969983" cy="2823635"/>
          </a:xfrm>
          <a:prstGeom prst="rect">
            <a:avLst/>
          </a:prstGeom>
        </p:spPr>
      </p:pic>
      <p:pic>
        <p:nvPicPr>
          <p:cNvPr id="12" name="Picture 11">
            <a:extLst>
              <a:ext uri="{FF2B5EF4-FFF2-40B4-BE49-F238E27FC236}">
                <a16:creationId xmlns:a16="http://schemas.microsoft.com/office/drawing/2014/main" id="{ECB58D7E-9C89-04DA-740C-DD9364EF50B5}"/>
              </a:ext>
            </a:extLst>
          </p:cNvPr>
          <p:cNvPicPr>
            <a:picLocks noChangeAspect="1"/>
          </p:cNvPicPr>
          <p:nvPr/>
        </p:nvPicPr>
        <p:blipFill>
          <a:blip r:embed="rId8"/>
          <a:stretch>
            <a:fillRect/>
          </a:stretch>
        </p:blipFill>
        <p:spPr>
          <a:xfrm>
            <a:off x="8154561" y="3428999"/>
            <a:ext cx="3969981" cy="2823635"/>
          </a:xfrm>
          <a:prstGeom prst="rect">
            <a:avLst/>
          </a:prstGeom>
        </p:spPr>
      </p:pic>
      <p:pic>
        <p:nvPicPr>
          <p:cNvPr id="20" name="Audio 19">
            <a:extLst>
              <a:ext uri="{FF2B5EF4-FFF2-40B4-BE49-F238E27FC236}">
                <a16:creationId xmlns:a16="http://schemas.microsoft.com/office/drawing/2014/main" id="{33AA87A3-CADB-1D88-5064-150D9AA33D62}"/>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176073114"/>
      </p:ext>
    </p:extLst>
  </p:cSld>
  <p:clrMapOvr>
    <a:masterClrMapping/>
  </p:clrMapOvr>
  <mc:AlternateContent xmlns:mc="http://schemas.openxmlformats.org/markup-compatibility/2006">
    <mc:Choice xmlns:p14="http://schemas.microsoft.com/office/powerpoint/2010/main" Requires="p14">
      <p:transition spd="slow" p14:dur="2000" advTm="46545"/>
    </mc:Choice>
    <mc:Fallback>
      <p:transition spd="slow" advTm="465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2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par>
                                <p:cTn id="17" presetID="9"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par>
                                <p:cTn id="20" presetID="9"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2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E5FE-7796-F229-26E5-859022BFA0C5}"/>
              </a:ext>
            </a:extLst>
          </p:cNvPr>
          <p:cNvSpPr>
            <a:spLocks noGrp="1"/>
          </p:cNvSpPr>
          <p:nvPr>
            <p:ph type="title"/>
          </p:nvPr>
        </p:nvSpPr>
        <p:spPr/>
        <p:txBody>
          <a:bodyPr/>
          <a:lstStyle/>
          <a:p>
            <a:r>
              <a:rPr lang="en-US" dirty="0"/>
              <a:t>EDA: </a:t>
            </a:r>
            <a:r>
              <a:rPr lang="en-US" sz="2200" dirty="0"/>
              <a:t>KNN Model</a:t>
            </a:r>
          </a:p>
        </p:txBody>
      </p:sp>
      <p:sp>
        <p:nvSpPr>
          <p:cNvPr id="5" name="Rounded Rectangle 4">
            <a:extLst>
              <a:ext uri="{FF2B5EF4-FFF2-40B4-BE49-F238E27FC236}">
                <a16:creationId xmlns:a16="http://schemas.microsoft.com/office/drawing/2014/main" id="{BE475DFE-E324-9FC1-F789-D8F9FC9A6378}"/>
              </a:ext>
            </a:extLst>
          </p:cNvPr>
          <p:cNvSpPr/>
          <p:nvPr/>
        </p:nvSpPr>
        <p:spPr>
          <a:xfrm>
            <a:off x="3229029" y="2921519"/>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71.4%</a:t>
            </a:r>
            <a:br>
              <a:rPr lang="en-US" dirty="0"/>
            </a:br>
            <a:r>
              <a:rPr lang="en-US" dirty="0"/>
              <a:t>Sensitivity</a:t>
            </a:r>
          </a:p>
        </p:txBody>
      </p:sp>
      <p:sp>
        <p:nvSpPr>
          <p:cNvPr id="6" name="Rounded Rectangle 5">
            <a:extLst>
              <a:ext uri="{FF2B5EF4-FFF2-40B4-BE49-F238E27FC236}">
                <a16:creationId xmlns:a16="http://schemas.microsoft.com/office/drawing/2014/main" id="{D597058B-74D2-0D1B-49F9-6645CE00D1F7}"/>
              </a:ext>
            </a:extLst>
          </p:cNvPr>
          <p:cNvSpPr/>
          <p:nvPr/>
        </p:nvSpPr>
        <p:spPr>
          <a:xfrm>
            <a:off x="5184814" y="2921519"/>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63.5%</a:t>
            </a:r>
          </a:p>
          <a:p>
            <a:pPr algn="ctr"/>
            <a:r>
              <a:rPr lang="en-US" dirty="0"/>
              <a:t>Specificity</a:t>
            </a:r>
          </a:p>
        </p:txBody>
      </p:sp>
      <p:sp>
        <p:nvSpPr>
          <p:cNvPr id="7" name="Rounded Rectangle 6">
            <a:extLst>
              <a:ext uri="{FF2B5EF4-FFF2-40B4-BE49-F238E27FC236}">
                <a16:creationId xmlns:a16="http://schemas.microsoft.com/office/drawing/2014/main" id="{D332C5E1-2516-BAEC-969F-6960C53AD7D8}"/>
              </a:ext>
            </a:extLst>
          </p:cNvPr>
          <p:cNvSpPr/>
          <p:nvPr/>
        </p:nvSpPr>
        <p:spPr>
          <a:xfrm>
            <a:off x="7140599" y="2921518"/>
            <a:ext cx="1685089" cy="1291631"/>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64.8%</a:t>
            </a:r>
            <a:br>
              <a:rPr lang="en-US" dirty="0"/>
            </a:br>
            <a:r>
              <a:rPr lang="en-US" dirty="0"/>
              <a:t>Accuracy</a:t>
            </a:r>
          </a:p>
        </p:txBody>
      </p:sp>
      <p:sp>
        <p:nvSpPr>
          <p:cNvPr id="9" name="Content Placeholder 8">
            <a:extLst>
              <a:ext uri="{FF2B5EF4-FFF2-40B4-BE49-F238E27FC236}">
                <a16:creationId xmlns:a16="http://schemas.microsoft.com/office/drawing/2014/main" id="{A6E0638E-B5B4-BF5A-80BA-74908D2E6651}"/>
              </a:ext>
            </a:extLst>
          </p:cNvPr>
          <p:cNvSpPr>
            <a:spLocks noGrp="1"/>
          </p:cNvSpPr>
          <p:nvPr>
            <p:ph idx="1"/>
          </p:nvPr>
        </p:nvSpPr>
        <p:spPr>
          <a:xfrm>
            <a:off x="533398" y="1816619"/>
            <a:ext cx="11125202" cy="746759"/>
          </a:xfrm>
        </p:spPr>
        <p:txBody>
          <a:bodyPr>
            <a:normAutofit/>
          </a:bodyPr>
          <a:lstStyle/>
          <a:p>
            <a:pPr marL="0" indent="0" algn="ctr">
              <a:buNone/>
            </a:pPr>
            <a:r>
              <a:rPr lang="en-US" sz="1800" dirty="0"/>
              <a:t>KNN classifies an employee based on the outcomes of the most similar employees in the training data.</a:t>
            </a:r>
          </a:p>
          <a:p>
            <a:pPr marL="0" indent="0" algn="ctr">
              <a:buNone/>
            </a:pPr>
            <a:r>
              <a:rPr lang="en-US" sz="1800" dirty="0"/>
              <a:t>K = 5</a:t>
            </a:r>
          </a:p>
        </p:txBody>
      </p:sp>
      <p:sp>
        <p:nvSpPr>
          <p:cNvPr id="10" name="Rounded Rectangle 9">
            <a:extLst>
              <a:ext uri="{FF2B5EF4-FFF2-40B4-BE49-F238E27FC236}">
                <a16:creationId xmlns:a16="http://schemas.microsoft.com/office/drawing/2014/main" id="{45AC9F15-278F-00F1-D3A0-AA610574252F}"/>
              </a:ext>
            </a:extLst>
          </p:cNvPr>
          <p:cNvSpPr/>
          <p:nvPr/>
        </p:nvSpPr>
        <p:spPr>
          <a:xfrm>
            <a:off x="3229029" y="4639434"/>
            <a:ext cx="5596659" cy="568348"/>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Selected Threshold = 0.20</a:t>
            </a:r>
          </a:p>
        </p:txBody>
      </p:sp>
      <p:pic>
        <p:nvPicPr>
          <p:cNvPr id="14" name="Audio 13">
            <a:extLst>
              <a:ext uri="{FF2B5EF4-FFF2-40B4-BE49-F238E27FC236}">
                <a16:creationId xmlns:a16="http://schemas.microsoft.com/office/drawing/2014/main" id="{1F047F47-29AB-FE98-8F35-CCF37F2A2880}"/>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205366219"/>
      </p:ext>
    </p:extLst>
  </p:cSld>
  <p:clrMapOvr>
    <a:masterClrMapping/>
  </p:clrMapOvr>
  <mc:AlternateContent xmlns:mc="http://schemas.openxmlformats.org/markup-compatibility/2006">
    <mc:Choice xmlns:p14="http://schemas.microsoft.com/office/powerpoint/2010/main" Requires="p14">
      <p:transition spd="slow" p14:dur="2000" advTm="51125"/>
    </mc:Choice>
    <mc:Fallback>
      <p:transition spd="slow" advTm="511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 calcmode="lin" valueType="num">
                                      <p:cBhvr additive="base">
                                        <p:cTn id="11"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 calcmode="lin" valueType="num">
                                      <p:cBhvr additive="base">
                                        <p:cTn id="17"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1"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1"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1"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par>
                                <p:cTn id="33" presetID="2" presetClass="entr" presetSubtype="4" fill="hold" grpId="1"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7" fill="hold" display="0">
                  <p:stCondLst>
                    <p:cond delay="indefinite"/>
                  </p:stCondLst>
                  <p:endCondLst>
                    <p:cond evt="onStopAudio" delay="0">
                      <p:tgtEl>
                        <p:sldTgt/>
                      </p:tgtEl>
                    </p:cond>
                  </p:endCondLst>
                </p:cTn>
                <p:tgtEl>
                  <p:spTgt spid="14"/>
                </p:tgtEl>
              </p:cMediaNode>
            </p:audio>
          </p:childTnLst>
        </p:cTn>
      </p:par>
    </p:tnLst>
    <p:bldLst>
      <p:bldP spid="5" grpId="1" animBg="1"/>
      <p:bldP spid="6" grpId="1" animBg="1"/>
      <p:bldP spid="7" grpId="1" animBg="1"/>
      <p:bldP spid="9" grpId="0" uiExpand="1" build="p"/>
      <p:bldP spid="1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9E4F6-F200-33BB-3C8D-BCB0B48F6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B4539-DDA9-8EC3-5288-A87B78D88803}"/>
              </a:ext>
            </a:extLst>
          </p:cNvPr>
          <p:cNvSpPr>
            <a:spLocks noGrp="1"/>
          </p:cNvSpPr>
          <p:nvPr>
            <p:ph type="title"/>
          </p:nvPr>
        </p:nvSpPr>
        <p:spPr/>
        <p:txBody>
          <a:bodyPr/>
          <a:lstStyle/>
          <a:p>
            <a:r>
              <a:rPr lang="en-US" dirty="0"/>
              <a:t>EDA: </a:t>
            </a:r>
            <a:r>
              <a:rPr lang="en-US" sz="2200" dirty="0"/>
              <a:t>NB Model</a:t>
            </a:r>
          </a:p>
        </p:txBody>
      </p:sp>
      <p:sp>
        <p:nvSpPr>
          <p:cNvPr id="6" name="Content Placeholder 5">
            <a:extLst>
              <a:ext uri="{FF2B5EF4-FFF2-40B4-BE49-F238E27FC236}">
                <a16:creationId xmlns:a16="http://schemas.microsoft.com/office/drawing/2014/main" id="{A6587B36-7A67-D306-B9FD-73C78AE1C47A}"/>
              </a:ext>
            </a:extLst>
          </p:cNvPr>
          <p:cNvSpPr>
            <a:spLocks noGrp="1"/>
          </p:cNvSpPr>
          <p:nvPr>
            <p:ph idx="1"/>
          </p:nvPr>
        </p:nvSpPr>
        <p:spPr>
          <a:xfrm>
            <a:off x="1208828" y="1909942"/>
            <a:ext cx="9637059" cy="1940857"/>
          </a:xfrm>
        </p:spPr>
        <p:txBody>
          <a:bodyPr>
            <a:normAutofit/>
          </a:bodyPr>
          <a:lstStyle/>
          <a:p>
            <a:pPr marL="0" indent="0">
              <a:buNone/>
            </a:pPr>
            <a:r>
              <a:rPr lang="en-US" sz="1800" dirty="0"/>
              <a:t>Naive Bayes estimates attrition probability using the observed characteristics of an employee.</a:t>
            </a:r>
          </a:p>
        </p:txBody>
      </p:sp>
      <p:sp>
        <p:nvSpPr>
          <p:cNvPr id="7" name="Rounded Rectangle 6">
            <a:extLst>
              <a:ext uri="{FF2B5EF4-FFF2-40B4-BE49-F238E27FC236}">
                <a16:creationId xmlns:a16="http://schemas.microsoft.com/office/drawing/2014/main" id="{AE4F4304-40F1-21B7-171C-9D5C58497FBB}"/>
              </a:ext>
            </a:extLst>
          </p:cNvPr>
          <p:cNvSpPr/>
          <p:nvPr/>
        </p:nvSpPr>
        <p:spPr>
          <a:xfrm>
            <a:off x="3229029" y="2880372"/>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61.9%</a:t>
            </a:r>
            <a:br>
              <a:rPr lang="en-US" dirty="0"/>
            </a:br>
            <a:r>
              <a:rPr lang="en-US" dirty="0"/>
              <a:t>Sensitivity</a:t>
            </a:r>
          </a:p>
        </p:txBody>
      </p:sp>
      <p:sp>
        <p:nvSpPr>
          <p:cNvPr id="8" name="Rounded Rectangle 7">
            <a:extLst>
              <a:ext uri="{FF2B5EF4-FFF2-40B4-BE49-F238E27FC236}">
                <a16:creationId xmlns:a16="http://schemas.microsoft.com/office/drawing/2014/main" id="{80A30D95-F184-2E20-57D1-466E55888B26}"/>
              </a:ext>
            </a:extLst>
          </p:cNvPr>
          <p:cNvSpPr/>
          <p:nvPr/>
        </p:nvSpPr>
        <p:spPr>
          <a:xfrm>
            <a:off x="5184814" y="2880372"/>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69.4%</a:t>
            </a:r>
          </a:p>
          <a:p>
            <a:pPr algn="ctr"/>
            <a:r>
              <a:rPr lang="en-US" dirty="0"/>
              <a:t>Specificity</a:t>
            </a:r>
          </a:p>
        </p:txBody>
      </p:sp>
      <p:sp>
        <p:nvSpPr>
          <p:cNvPr id="9" name="Rounded Rectangle 8">
            <a:extLst>
              <a:ext uri="{FF2B5EF4-FFF2-40B4-BE49-F238E27FC236}">
                <a16:creationId xmlns:a16="http://schemas.microsoft.com/office/drawing/2014/main" id="{00C3FE67-194D-9310-A033-3CBCBA655A05}"/>
              </a:ext>
            </a:extLst>
          </p:cNvPr>
          <p:cNvSpPr/>
          <p:nvPr/>
        </p:nvSpPr>
        <p:spPr>
          <a:xfrm>
            <a:off x="7140599" y="2880371"/>
            <a:ext cx="1685089" cy="1291631"/>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68.2%</a:t>
            </a:r>
            <a:br>
              <a:rPr lang="en-US" dirty="0"/>
            </a:br>
            <a:r>
              <a:rPr lang="en-US" dirty="0"/>
              <a:t>Accuracy</a:t>
            </a:r>
          </a:p>
        </p:txBody>
      </p:sp>
      <p:sp>
        <p:nvSpPr>
          <p:cNvPr id="10" name="Rounded Rectangle 9">
            <a:extLst>
              <a:ext uri="{FF2B5EF4-FFF2-40B4-BE49-F238E27FC236}">
                <a16:creationId xmlns:a16="http://schemas.microsoft.com/office/drawing/2014/main" id="{53D0AB64-D70A-5E2D-EBB2-B2804A50D551}"/>
              </a:ext>
            </a:extLst>
          </p:cNvPr>
          <p:cNvSpPr/>
          <p:nvPr/>
        </p:nvSpPr>
        <p:spPr>
          <a:xfrm>
            <a:off x="3229029" y="4639434"/>
            <a:ext cx="5596659" cy="568348"/>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Selected Threshold = 0.25</a:t>
            </a:r>
          </a:p>
        </p:txBody>
      </p:sp>
      <p:pic>
        <p:nvPicPr>
          <p:cNvPr id="20" name="Audio 19">
            <a:extLst>
              <a:ext uri="{FF2B5EF4-FFF2-40B4-BE49-F238E27FC236}">
                <a16:creationId xmlns:a16="http://schemas.microsoft.com/office/drawing/2014/main" id="{627843EA-A2F0-3C31-386B-49DE6FD30C20}"/>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609512086"/>
      </p:ext>
    </p:extLst>
  </p:cSld>
  <p:clrMapOvr>
    <a:masterClrMapping/>
  </p:clrMapOvr>
  <mc:AlternateContent xmlns:mc="http://schemas.openxmlformats.org/markup-compatibility/2006">
    <mc:Choice xmlns:p14="http://schemas.microsoft.com/office/powerpoint/2010/main" Requires="p14">
      <p:transition spd="slow" p14:dur="2000" advTm="48704"/>
    </mc:Choice>
    <mc:Fallback>
      <p:transition spd="slow" advTm="487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1" fill="hold" display="0">
                  <p:stCondLst>
                    <p:cond delay="indefinite"/>
                  </p:stCondLst>
                  <p:endCondLst>
                    <p:cond evt="onStopAudio" delay="0">
                      <p:tgtEl>
                        <p:sldTgt/>
                      </p:tgtEl>
                    </p:cond>
                  </p:endCondLst>
                </p:cTn>
                <p:tgtEl>
                  <p:spTgt spid="20"/>
                </p:tgtEl>
              </p:cMediaNode>
            </p:audio>
          </p:childTnLst>
        </p:cTn>
      </p:par>
    </p:tnLst>
    <p:bldLst>
      <p:bldP spid="6" grpId="0" build="p"/>
      <p:bldP spid="7" grpId="1" animBg="1"/>
      <p:bldP spid="8" grpId="1" animBg="1"/>
      <p:bldP spid="9" grpId="1" animBg="1"/>
      <p:bldP spid="10"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F69C-D16D-0E1A-A72C-D9CEA4DD7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B49BF-3363-FDB2-D1D0-A6972E543D22}"/>
              </a:ext>
            </a:extLst>
          </p:cNvPr>
          <p:cNvSpPr>
            <a:spLocks noGrp="1"/>
          </p:cNvSpPr>
          <p:nvPr>
            <p:ph type="title"/>
          </p:nvPr>
        </p:nvSpPr>
        <p:spPr>
          <a:xfrm>
            <a:off x="533398" y="901341"/>
            <a:ext cx="11125201" cy="746759"/>
          </a:xfrm>
        </p:spPr>
        <p:txBody>
          <a:bodyPr/>
          <a:lstStyle/>
          <a:p>
            <a:r>
              <a:rPr lang="en-US" sz="2800" dirty="0"/>
              <a:t>EDA:</a:t>
            </a:r>
            <a:r>
              <a:rPr lang="en-US" sz="4000" dirty="0"/>
              <a:t> </a:t>
            </a:r>
            <a:r>
              <a:rPr lang="en-US" sz="2200" dirty="0"/>
              <a:t>logistic regression model performance</a:t>
            </a:r>
          </a:p>
        </p:txBody>
      </p:sp>
      <p:graphicFrame>
        <p:nvGraphicFramePr>
          <p:cNvPr id="9" name="Content Placeholder 8">
            <a:extLst>
              <a:ext uri="{FF2B5EF4-FFF2-40B4-BE49-F238E27FC236}">
                <a16:creationId xmlns:a16="http://schemas.microsoft.com/office/drawing/2014/main" id="{B5F051B2-491A-FEFC-6821-75BC412D4BBB}"/>
              </a:ext>
            </a:extLst>
          </p:cNvPr>
          <p:cNvGraphicFramePr>
            <a:graphicFrameLocks noGrp="1"/>
          </p:cNvGraphicFramePr>
          <p:nvPr>
            <p:ph idx="1"/>
            <p:extLst>
              <p:ext uri="{D42A27DB-BD31-4B8C-83A1-F6EECF244321}">
                <p14:modId xmlns:p14="http://schemas.microsoft.com/office/powerpoint/2010/main" val="3403529662"/>
              </p:ext>
            </p:extLst>
          </p:nvPr>
        </p:nvGraphicFramePr>
        <p:xfrm>
          <a:off x="6092438" y="4014439"/>
          <a:ext cx="5593737" cy="2261860"/>
        </p:xfrm>
        <a:graphic>
          <a:graphicData uri="http://schemas.openxmlformats.org/drawingml/2006/table">
            <a:tbl>
              <a:tblPr firstRow="1" bandRow="1">
                <a:tableStyleId>{85BE263C-DBD7-4A20-BB59-AAB30ACAA65A}</a:tableStyleId>
              </a:tblPr>
              <a:tblGrid>
                <a:gridCol w="1398434">
                  <a:extLst>
                    <a:ext uri="{9D8B030D-6E8A-4147-A177-3AD203B41FA5}">
                      <a16:colId xmlns:a16="http://schemas.microsoft.com/office/drawing/2014/main" val="2673703840"/>
                    </a:ext>
                  </a:extLst>
                </a:gridCol>
                <a:gridCol w="1487132">
                  <a:extLst>
                    <a:ext uri="{9D8B030D-6E8A-4147-A177-3AD203B41FA5}">
                      <a16:colId xmlns:a16="http://schemas.microsoft.com/office/drawing/2014/main" val="4266015708"/>
                    </a:ext>
                  </a:extLst>
                </a:gridCol>
                <a:gridCol w="1537391">
                  <a:extLst>
                    <a:ext uri="{9D8B030D-6E8A-4147-A177-3AD203B41FA5}">
                      <a16:colId xmlns:a16="http://schemas.microsoft.com/office/drawing/2014/main" val="3241489911"/>
                    </a:ext>
                  </a:extLst>
                </a:gridCol>
                <a:gridCol w="1170780">
                  <a:extLst>
                    <a:ext uri="{9D8B030D-6E8A-4147-A177-3AD203B41FA5}">
                      <a16:colId xmlns:a16="http://schemas.microsoft.com/office/drawing/2014/main" val="2963175984"/>
                    </a:ext>
                  </a:extLst>
                </a:gridCol>
              </a:tblGrid>
              <a:tr h="1130930">
                <a:tc>
                  <a:txBody>
                    <a:bodyPr/>
                    <a:lstStyle/>
                    <a:p>
                      <a:pPr algn="ctr"/>
                      <a:r>
                        <a:rPr lang="en-US" sz="1900" b="0" dirty="0"/>
                        <a:t>0.50</a:t>
                      </a:r>
                    </a:p>
                    <a:p>
                      <a:pPr algn="ctr"/>
                      <a:r>
                        <a:rPr lang="en-US" sz="1900" b="0" dirty="0"/>
                        <a:t>Threshold</a:t>
                      </a:r>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0" dirty="0"/>
                        <a:t> 33.3% Sensitivity</a:t>
                      </a:r>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0" dirty="0"/>
                        <a:t>97.3% </a:t>
                      </a:r>
                    </a:p>
                    <a:p>
                      <a:pPr algn="ctr"/>
                      <a:r>
                        <a:rPr lang="en-US" sz="1900" b="0" dirty="0"/>
                        <a:t>Specificity</a:t>
                      </a:r>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0" dirty="0"/>
                        <a:t>ⅹ</a:t>
                      </a:r>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163039"/>
                  </a:ext>
                </a:extLst>
              </a:tr>
              <a:tr h="1130930">
                <a:tc>
                  <a:txBody>
                    <a:bodyPr/>
                    <a:lstStyle/>
                    <a:p>
                      <a:pPr algn="ctr"/>
                      <a:r>
                        <a:rPr lang="en-US" sz="1900" b="1" dirty="0"/>
                        <a:t>0.20</a:t>
                      </a:r>
                    </a:p>
                    <a:p>
                      <a:pPr algn="ctr"/>
                      <a:r>
                        <a:rPr lang="en-US" sz="1900" b="1" dirty="0"/>
                        <a:t>Threshold</a:t>
                      </a:r>
                    </a:p>
                    <a:p>
                      <a:pPr algn="ctr"/>
                      <a:endParaRPr lang="en-US" sz="1900" b="1" dirty="0"/>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t>69.0% Sensitivity</a:t>
                      </a:r>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b="1" dirty="0"/>
                        <a:t>76.3% </a:t>
                      </a:r>
                    </a:p>
                    <a:p>
                      <a:pPr algn="ctr"/>
                      <a:r>
                        <a:rPr lang="en-US" sz="1900" b="1" dirty="0"/>
                        <a:t>Specificity</a:t>
                      </a:r>
                    </a:p>
                    <a:p>
                      <a:pPr algn="ctr"/>
                      <a:endParaRPr lang="en-US" sz="1900" b="1" dirty="0"/>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900" b="1" dirty="0"/>
                        <a:t>✓</a:t>
                      </a:r>
                    </a:p>
                    <a:p>
                      <a:pPr algn="ctr"/>
                      <a:endParaRPr lang="en-US" sz="1900" b="1" dirty="0"/>
                    </a:p>
                  </a:txBody>
                  <a:tcPr marL="96974" marR="96974" marT="48487" marB="484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0196869"/>
                  </a:ext>
                </a:extLst>
              </a:tr>
            </a:tbl>
          </a:graphicData>
        </a:graphic>
      </p:graphicFrame>
      <p:sp>
        <p:nvSpPr>
          <p:cNvPr id="4" name="Rounded Rectangle 3">
            <a:extLst>
              <a:ext uri="{FF2B5EF4-FFF2-40B4-BE49-F238E27FC236}">
                <a16:creationId xmlns:a16="http://schemas.microsoft.com/office/drawing/2014/main" id="{A0DF1C26-3794-F16A-CFB7-FB3E00CB9F7C}"/>
              </a:ext>
            </a:extLst>
          </p:cNvPr>
          <p:cNvSpPr/>
          <p:nvPr/>
        </p:nvSpPr>
        <p:spPr>
          <a:xfrm>
            <a:off x="6124630" y="1997935"/>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69.0%</a:t>
            </a:r>
            <a:br>
              <a:rPr lang="en-US" dirty="0"/>
            </a:br>
            <a:r>
              <a:rPr lang="en-US" dirty="0"/>
              <a:t>Sensitivity  </a:t>
            </a:r>
          </a:p>
        </p:txBody>
      </p:sp>
      <p:sp>
        <p:nvSpPr>
          <p:cNvPr id="6" name="Rounded Rectangle 5">
            <a:extLst>
              <a:ext uri="{FF2B5EF4-FFF2-40B4-BE49-F238E27FC236}">
                <a16:creationId xmlns:a16="http://schemas.microsoft.com/office/drawing/2014/main" id="{B7DB4F98-F7DA-4A7D-2891-BB31CA901BEB}"/>
              </a:ext>
            </a:extLst>
          </p:cNvPr>
          <p:cNvSpPr/>
          <p:nvPr/>
        </p:nvSpPr>
        <p:spPr>
          <a:xfrm>
            <a:off x="8080415" y="1997935"/>
            <a:ext cx="1685088" cy="129163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76.3%</a:t>
            </a:r>
          </a:p>
          <a:p>
            <a:pPr algn="ctr"/>
            <a:r>
              <a:rPr lang="en-US" dirty="0"/>
              <a:t>Specificity       </a:t>
            </a:r>
          </a:p>
        </p:txBody>
      </p:sp>
      <p:sp>
        <p:nvSpPr>
          <p:cNvPr id="7" name="Rounded Rectangle 6">
            <a:extLst>
              <a:ext uri="{FF2B5EF4-FFF2-40B4-BE49-F238E27FC236}">
                <a16:creationId xmlns:a16="http://schemas.microsoft.com/office/drawing/2014/main" id="{3F357AF2-8AB8-A0C9-AB86-A26B03CFAF1D}"/>
              </a:ext>
            </a:extLst>
          </p:cNvPr>
          <p:cNvSpPr/>
          <p:nvPr/>
        </p:nvSpPr>
        <p:spPr>
          <a:xfrm>
            <a:off x="10036200" y="1997934"/>
            <a:ext cx="1685089" cy="1291631"/>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75.1%</a:t>
            </a:r>
            <a:br>
              <a:rPr lang="en-US" dirty="0"/>
            </a:br>
            <a:r>
              <a:rPr lang="en-US" dirty="0"/>
              <a:t>Accuracy</a:t>
            </a:r>
          </a:p>
        </p:txBody>
      </p:sp>
      <p:pic>
        <p:nvPicPr>
          <p:cNvPr id="10" name="Picture 9">
            <a:extLst>
              <a:ext uri="{FF2B5EF4-FFF2-40B4-BE49-F238E27FC236}">
                <a16:creationId xmlns:a16="http://schemas.microsoft.com/office/drawing/2014/main" id="{2F6C07AA-2D50-3C21-CE05-9C47F5CE031E}"/>
              </a:ext>
            </a:extLst>
          </p:cNvPr>
          <p:cNvPicPr>
            <a:picLocks noChangeAspect="1"/>
          </p:cNvPicPr>
          <p:nvPr/>
        </p:nvPicPr>
        <p:blipFill>
          <a:blip r:embed="rId6"/>
          <a:srcRect r="12373"/>
          <a:stretch>
            <a:fillRect/>
          </a:stretch>
        </p:blipFill>
        <p:spPr>
          <a:xfrm>
            <a:off x="533398" y="2172803"/>
            <a:ext cx="5098051" cy="3683271"/>
          </a:xfrm>
          <a:prstGeom prst="rect">
            <a:avLst/>
          </a:prstGeom>
        </p:spPr>
      </p:pic>
      <p:pic>
        <p:nvPicPr>
          <p:cNvPr id="14" name="Audio 13">
            <a:extLst>
              <a:ext uri="{FF2B5EF4-FFF2-40B4-BE49-F238E27FC236}">
                <a16:creationId xmlns:a16="http://schemas.microsoft.com/office/drawing/2014/main" id="{875B914F-39CC-CB19-00BA-689BEE475CC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255585993"/>
      </p:ext>
    </p:extLst>
  </p:cSld>
  <p:clrMapOvr>
    <a:masterClrMapping/>
  </p:clrMapOvr>
  <mc:AlternateContent xmlns:mc="http://schemas.openxmlformats.org/markup-compatibility/2006">
    <mc:Choice xmlns:p14="http://schemas.microsoft.com/office/powerpoint/2010/main" Requires="p14">
      <p:transition spd="slow" p14:dur="2000" advTm="66520"/>
    </mc:Choice>
    <mc:Fallback>
      <p:transition spd="slow" advTm="6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3" fill="hold" display="0">
                  <p:stCondLst>
                    <p:cond delay="indefinite"/>
                  </p:stCondLst>
                  <p:endCondLst>
                    <p:cond evt="onStopAudio" delay="0">
                      <p:tgtEl>
                        <p:sldTgt/>
                      </p:tgtEl>
                    </p:cond>
                  </p:endCondLst>
                </p:cTn>
                <p:tgtEl>
                  <p:spTgt spid="14"/>
                </p:tgtEl>
              </p:cMediaNode>
            </p:audio>
          </p:childTnLst>
        </p:cTn>
      </p:par>
    </p:tnLst>
    <p:bldLst>
      <p:bldP spid="4"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84D57-96D1-02E9-8E2A-C0D3EE30C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8B820-8A7B-C3BA-E2E6-A2E8280681A2}"/>
              </a:ext>
            </a:extLst>
          </p:cNvPr>
          <p:cNvSpPr>
            <a:spLocks noGrp="1"/>
          </p:cNvSpPr>
          <p:nvPr>
            <p:ph type="title"/>
          </p:nvPr>
        </p:nvSpPr>
        <p:spPr>
          <a:xfrm>
            <a:off x="533398" y="901341"/>
            <a:ext cx="11125201" cy="746759"/>
          </a:xfrm>
        </p:spPr>
        <p:txBody>
          <a:bodyPr/>
          <a:lstStyle/>
          <a:p>
            <a:r>
              <a:rPr lang="en-US" sz="2800" dirty="0"/>
              <a:t>EDA:</a:t>
            </a:r>
            <a:r>
              <a:rPr lang="en-US" sz="4000" dirty="0"/>
              <a:t> </a:t>
            </a:r>
            <a:r>
              <a:rPr lang="en-US" sz="2200" dirty="0"/>
              <a:t>predictive modeling strategy</a:t>
            </a:r>
          </a:p>
        </p:txBody>
      </p:sp>
      <p:pic>
        <p:nvPicPr>
          <p:cNvPr id="9" name="Picture 8">
            <a:extLst>
              <a:ext uri="{FF2B5EF4-FFF2-40B4-BE49-F238E27FC236}">
                <a16:creationId xmlns:a16="http://schemas.microsoft.com/office/drawing/2014/main" id="{7F0D9FB2-1195-971B-92F3-134C426B73CD}"/>
              </a:ext>
            </a:extLst>
          </p:cNvPr>
          <p:cNvPicPr>
            <a:picLocks noChangeAspect="1"/>
          </p:cNvPicPr>
          <p:nvPr/>
        </p:nvPicPr>
        <p:blipFill>
          <a:blip r:embed="rId6"/>
          <a:stretch>
            <a:fillRect/>
          </a:stretch>
        </p:blipFill>
        <p:spPr>
          <a:xfrm>
            <a:off x="2043968" y="1447253"/>
            <a:ext cx="8104063" cy="5130630"/>
          </a:xfrm>
          <a:prstGeom prst="rect">
            <a:avLst/>
          </a:prstGeom>
        </p:spPr>
      </p:pic>
      <p:pic>
        <p:nvPicPr>
          <p:cNvPr id="7" name="Audio 6">
            <a:extLst>
              <a:ext uri="{FF2B5EF4-FFF2-40B4-BE49-F238E27FC236}">
                <a16:creationId xmlns:a16="http://schemas.microsoft.com/office/drawing/2014/main" id="{25987016-768E-853A-D60D-3FD9F87A098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246136697"/>
      </p:ext>
    </p:extLst>
  </p:cSld>
  <p:clrMapOvr>
    <a:masterClrMapping/>
  </p:clrMapOvr>
  <mc:AlternateContent xmlns:mc="http://schemas.openxmlformats.org/markup-compatibility/2006">
    <mc:Choice xmlns:p14="http://schemas.microsoft.com/office/powerpoint/2010/main" Requires="p14">
      <p:transition spd="slow" p14:dur="2000" advTm="25856"/>
    </mc:Choice>
    <mc:Fallback>
      <p:transition spd="slow" advTm="25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C1C56-824A-24B8-2301-8FF17F358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57A39-4C13-DFEE-968A-CCAEC043CD62}"/>
              </a:ext>
            </a:extLst>
          </p:cNvPr>
          <p:cNvSpPr>
            <a:spLocks noGrp="1"/>
          </p:cNvSpPr>
          <p:nvPr>
            <p:ph type="title"/>
          </p:nvPr>
        </p:nvSpPr>
        <p:spPr>
          <a:xfrm>
            <a:off x="533398" y="901341"/>
            <a:ext cx="11125201" cy="746759"/>
          </a:xfrm>
        </p:spPr>
        <p:txBody>
          <a:bodyPr/>
          <a:lstStyle/>
          <a:p>
            <a:r>
              <a:rPr lang="en-US" sz="2800" dirty="0"/>
              <a:t>EDA:</a:t>
            </a:r>
            <a:r>
              <a:rPr lang="en-US" sz="4000" dirty="0"/>
              <a:t> </a:t>
            </a:r>
            <a:r>
              <a:rPr lang="en-US" sz="2200" dirty="0"/>
              <a:t>predictive modeling strategy</a:t>
            </a:r>
          </a:p>
        </p:txBody>
      </p:sp>
      <p:graphicFrame>
        <p:nvGraphicFramePr>
          <p:cNvPr id="5" name="Table 4">
            <a:extLst>
              <a:ext uri="{FF2B5EF4-FFF2-40B4-BE49-F238E27FC236}">
                <a16:creationId xmlns:a16="http://schemas.microsoft.com/office/drawing/2014/main" id="{BF85D6E1-7AB3-A337-2BAC-9D44EB7A160B}"/>
              </a:ext>
            </a:extLst>
          </p:cNvPr>
          <p:cNvGraphicFramePr>
            <a:graphicFrameLocks noGrp="1"/>
          </p:cNvGraphicFramePr>
          <p:nvPr>
            <p:extLst>
              <p:ext uri="{D42A27DB-BD31-4B8C-83A1-F6EECF244321}">
                <p14:modId xmlns:p14="http://schemas.microsoft.com/office/powerpoint/2010/main" val="1353672030"/>
              </p:ext>
            </p:extLst>
          </p:nvPr>
        </p:nvGraphicFramePr>
        <p:xfrm>
          <a:off x="533399" y="4639822"/>
          <a:ext cx="11125200" cy="2011680"/>
        </p:xfrm>
        <a:graphic>
          <a:graphicData uri="http://schemas.openxmlformats.org/drawingml/2006/table">
            <a:tbl>
              <a:tblPr>
                <a:tableStyleId>{284E427A-3D55-4303-BF80-6455036E1DE7}</a:tableStyleId>
              </a:tblPr>
              <a:tblGrid>
                <a:gridCol w="1854200">
                  <a:extLst>
                    <a:ext uri="{9D8B030D-6E8A-4147-A177-3AD203B41FA5}">
                      <a16:colId xmlns:a16="http://schemas.microsoft.com/office/drawing/2014/main" val="2218002920"/>
                    </a:ext>
                  </a:extLst>
                </a:gridCol>
                <a:gridCol w="1854200">
                  <a:extLst>
                    <a:ext uri="{9D8B030D-6E8A-4147-A177-3AD203B41FA5}">
                      <a16:colId xmlns:a16="http://schemas.microsoft.com/office/drawing/2014/main" val="2620283961"/>
                    </a:ext>
                  </a:extLst>
                </a:gridCol>
                <a:gridCol w="1854200">
                  <a:extLst>
                    <a:ext uri="{9D8B030D-6E8A-4147-A177-3AD203B41FA5}">
                      <a16:colId xmlns:a16="http://schemas.microsoft.com/office/drawing/2014/main" val="3692980761"/>
                    </a:ext>
                  </a:extLst>
                </a:gridCol>
                <a:gridCol w="1854200">
                  <a:extLst>
                    <a:ext uri="{9D8B030D-6E8A-4147-A177-3AD203B41FA5}">
                      <a16:colId xmlns:a16="http://schemas.microsoft.com/office/drawing/2014/main" val="4036664168"/>
                    </a:ext>
                  </a:extLst>
                </a:gridCol>
                <a:gridCol w="1854200">
                  <a:extLst>
                    <a:ext uri="{9D8B030D-6E8A-4147-A177-3AD203B41FA5}">
                      <a16:colId xmlns:a16="http://schemas.microsoft.com/office/drawing/2014/main" val="920586290"/>
                    </a:ext>
                  </a:extLst>
                </a:gridCol>
                <a:gridCol w="1854200">
                  <a:extLst>
                    <a:ext uri="{9D8B030D-6E8A-4147-A177-3AD203B41FA5}">
                      <a16:colId xmlns:a16="http://schemas.microsoft.com/office/drawing/2014/main" val="1847081211"/>
                    </a:ext>
                  </a:extLst>
                </a:gridCol>
              </a:tblGrid>
              <a:tr h="0">
                <a:tc>
                  <a:txBody>
                    <a:bodyPr/>
                    <a:lstStyle/>
                    <a:p>
                      <a:pPr>
                        <a:buNone/>
                      </a:pPr>
                      <a:r>
                        <a:rPr lang="en-US" b="1" dirty="0"/>
                        <a:t>Model</a:t>
                      </a:r>
                    </a:p>
                  </a:txBody>
                  <a:tcPr anchor="ctr"/>
                </a:tc>
                <a:tc>
                  <a:txBody>
                    <a:bodyPr/>
                    <a:lstStyle/>
                    <a:p>
                      <a:pPr algn="r">
                        <a:buNone/>
                      </a:pPr>
                      <a:r>
                        <a:rPr lang="en-US" b="1"/>
                        <a:t>Threshold</a:t>
                      </a:r>
                    </a:p>
                  </a:txBody>
                  <a:tcPr anchor="ctr"/>
                </a:tc>
                <a:tc>
                  <a:txBody>
                    <a:bodyPr/>
                    <a:lstStyle/>
                    <a:p>
                      <a:pPr algn="r">
                        <a:buNone/>
                      </a:pPr>
                      <a:r>
                        <a:rPr lang="en-US" b="1" dirty="0"/>
                        <a:t>Sensitivity</a:t>
                      </a:r>
                    </a:p>
                  </a:txBody>
                  <a:tcPr anchor="ctr"/>
                </a:tc>
                <a:tc>
                  <a:txBody>
                    <a:bodyPr/>
                    <a:lstStyle/>
                    <a:p>
                      <a:pPr algn="r">
                        <a:buNone/>
                      </a:pPr>
                      <a:r>
                        <a:rPr lang="en-US" b="1"/>
                        <a:t>Specificity</a:t>
                      </a:r>
                    </a:p>
                  </a:txBody>
                  <a:tcPr anchor="ctr"/>
                </a:tc>
                <a:tc>
                  <a:txBody>
                    <a:bodyPr/>
                    <a:lstStyle/>
                    <a:p>
                      <a:pPr algn="r">
                        <a:buNone/>
                      </a:pPr>
                      <a:r>
                        <a:rPr lang="en-US" b="1" dirty="0"/>
                        <a:t>Accuracy</a:t>
                      </a:r>
                    </a:p>
                  </a:txBody>
                  <a:tcPr anchor="ctr"/>
                </a:tc>
                <a:tc>
                  <a:txBody>
                    <a:bodyPr/>
                    <a:lstStyle/>
                    <a:p>
                      <a:pPr algn="r">
                        <a:buNone/>
                      </a:pPr>
                      <a:r>
                        <a:rPr lang="en-US" b="1" dirty="0"/>
                        <a:t>Balanced Accuracy</a:t>
                      </a:r>
                    </a:p>
                  </a:txBody>
                  <a:tcPr anchor="ctr"/>
                </a:tc>
                <a:extLst>
                  <a:ext uri="{0D108BD9-81ED-4DB2-BD59-A6C34878D82A}">
                    <a16:rowId xmlns:a16="http://schemas.microsoft.com/office/drawing/2014/main" val="2892219831"/>
                  </a:ext>
                </a:extLst>
              </a:tr>
              <a:tr h="0">
                <a:tc>
                  <a:txBody>
                    <a:bodyPr/>
                    <a:lstStyle/>
                    <a:p>
                      <a:pPr>
                        <a:buNone/>
                      </a:pPr>
                      <a:r>
                        <a:rPr lang="en-US" b="1"/>
                        <a:t>Logistic Regression</a:t>
                      </a:r>
                    </a:p>
                  </a:txBody>
                  <a:tcPr anchor="ctr"/>
                </a:tc>
                <a:tc>
                  <a:txBody>
                    <a:bodyPr/>
                    <a:lstStyle/>
                    <a:p>
                      <a:pPr algn="r">
                        <a:buNone/>
                      </a:pPr>
                      <a:r>
                        <a:rPr lang="en-US" b="1"/>
                        <a:t>0.20</a:t>
                      </a:r>
                    </a:p>
                  </a:txBody>
                  <a:tcPr anchor="ctr"/>
                </a:tc>
                <a:tc>
                  <a:txBody>
                    <a:bodyPr/>
                    <a:lstStyle/>
                    <a:p>
                      <a:pPr algn="r">
                        <a:buNone/>
                      </a:pPr>
                      <a:r>
                        <a:rPr lang="en-US" b="1" dirty="0"/>
                        <a:t>69.0%</a:t>
                      </a:r>
                    </a:p>
                  </a:txBody>
                  <a:tcPr anchor="ctr"/>
                </a:tc>
                <a:tc>
                  <a:txBody>
                    <a:bodyPr/>
                    <a:lstStyle/>
                    <a:p>
                      <a:pPr algn="r">
                        <a:buNone/>
                      </a:pPr>
                      <a:r>
                        <a:rPr lang="en-US" b="1"/>
                        <a:t>76.3%</a:t>
                      </a:r>
                    </a:p>
                  </a:txBody>
                  <a:tcPr anchor="ctr"/>
                </a:tc>
                <a:tc>
                  <a:txBody>
                    <a:bodyPr/>
                    <a:lstStyle/>
                    <a:p>
                      <a:pPr algn="r">
                        <a:buNone/>
                      </a:pPr>
                      <a:r>
                        <a:rPr lang="en-US" b="1" dirty="0"/>
                        <a:t>75.1%</a:t>
                      </a:r>
                    </a:p>
                  </a:txBody>
                  <a:tcPr anchor="ctr"/>
                </a:tc>
                <a:tc>
                  <a:txBody>
                    <a:bodyPr/>
                    <a:lstStyle/>
                    <a:p>
                      <a:pPr algn="r">
                        <a:buNone/>
                      </a:pPr>
                      <a:r>
                        <a:rPr lang="en-US" b="1" dirty="0"/>
                        <a:t>72.7%</a:t>
                      </a:r>
                    </a:p>
                  </a:txBody>
                  <a:tcPr anchor="ctr"/>
                </a:tc>
                <a:extLst>
                  <a:ext uri="{0D108BD9-81ED-4DB2-BD59-A6C34878D82A}">
                    <a16:rowId xmlns:a16="http://schemas.microsoft.com/office/drawing/2014/main" val="2507049553"/>
                  </a:ext>
                </a:extLst>
              </a:tr>
              <a:tr h="0">
                <a:tc>
                  <a:txBody>
                    <a:bodyPr/>
                    <a:lstStyle/>
                    <a:p>
                      <a:pPr>
                        <a:buNone/>
                      </a:pPr>
                      <a:r>
                        <a:rPr lang="en-US"/>
                        <a:t>KNN</a:t>
                      </a:r>
                    </a:p>
                  </a:txBody>
                  <a:tcPr anchor="ctr"/>
                </a:tc>
                <a:tc>
                  <a:txBody>
                    <a:bodyPr/>
                    <a:lstStyle/>
                    <a:p>
                      <a:pPr algn="r">
                        <a:buNone/>
                      </a:pPr>
                      <a:r>
                        <a:rPr lang="en-US"/>
                        <a:t>0.10–0.20</a:t>
                      </a:r>
                    </a:p>
                  </a:txBody>
                  <a:tcPr anchor="ctr"/>
                </a:tc>
                <a:tc>
                  <a:txBody>
                    <a:bodyPr/>
                    <a:lstStyle/>
                    <a:p>
                      <a:pPr algn="r">
                        <a:buNone/>
                      </a:pPr>
                      <a:r>
                        <a:rPr lang="en-US"/>
                        <a:t>71.4%</a:t>
                      </a:r>
                    </a:p>
                  </a:txBody>
                  <a:tcPr anchor="ctr"/>
                </a:tc>
                <a:tc>
                  <a:txBody>
                    <a:bodyPr/>
                    <a:lstStyle/>
                    <a:p>
                      <a:pPr algn="r">
                        <a:buNone/>
                      </a:pPr>
                      <a:r>
                        <a:rPr lang="en-US"/>
                        <a:t>63.5%</a:t>
                      </a:r>
                    </a:p>
                  </a:txBody>
                  <a:tcPr anchor="ctr"/>
                </a:tc>
                <a:tc>
                  <a:txBody>
                    <a:bodyPr/>
                    <a:lstStyle/>
                    <a:p>
                      <a:pPr algn="r">
                        <a:buNone/>
                      </a:pPr>
                      <a:r>
                        <a:rPr lang="en-US"/>
                        <a:t>64.8%</a:t>
                      </a:r>
                    </a:p>
                  </a:txBody>
                  <a:tcPr anchor="ctr"/>
                </a:tc>
                <a:tc>
                  <a:txBody>
                    <a:bodyPr/>
                    <a:lstStyle/>
                    <a:p>
                      <a:pPr algn="r">
                        <a:buNone/>
                      </a:pPr>
                      <a:r>
                        <a:rPr lang="en-US"/>
                        <a:t>67.4%</a:t>
                      </a:r>
                    </a:p>
                  </a:txBody>
                  <a:tcPr anchor="ctr"/>
                </a:tc>
                <a:extLst>
                  <a:ext uri="{0D108BD9-81ED-4DB2-BD59-A6C34878D82A}">
                    <a16:rowId xmlns:a16="http://schemas.microsoft.com/office/drawing/2014/main" val="2833738964"/>
                  </a:ext>
                </a:extLst>
              </a:tr>
              <a:tr h="0">
                <a:tc>
                  <a:txBody>
                    <a:bodyPr/>
                    <a:lstStyle/>
                    <a:p>
                      <a:pPr>
                        <a:buNone/>
                      </a:pPr>
                      <a:r>
                        <a:rPr lang="en-US"/>
                        <a:t>Naive Bayes</a:t>
                      </a:r>
                    </a:p>
                  </a:txBody>
                  <a:tcPr anchor="ctr"/>
                </a:tc>
                <a:tc>
                  <a:txBody>
                    <a:bodyPr/>
                    <a:lstStyle/>
                    <a:p>
                      <a:pPr algn="r">
                        <a:buNone/>
                      </a:pPr>
                      <a:r>
                        <a:rPr lang="en-US"/>
                        <a:t>0.25</a:t>
                      </a:r>
                    </a:p>
                  </a:txBody>
                  <a:tcPr anchor="ctr"/>
                </a:tc>
                <a:tc>
                  <a:txBody>
                    <a:bodyPr/>
                    <a:lstStyle/>
                    <a:p>
                      <a:pPr algn="r">
                        <a:buNone/>
                      </a:pPr>
                      <a:r>
                        <a:rPr lang="en-US"/>
                        <a:t>61.9%</a:t>
                      </a:r>
                    </a:p>
                  </a:txBody>
                  <a:tcPr anchor="ctr"/>
                </a:tc>
                <a:tc>
                  <a:txBody>
                    <a:bodyPr/>
                    <a:lstStyle/>
                    <a:p>
                      <a:pPr algn="r">
                        <a:buNone/>
                      </a:pPr>
                      <a:r>
                        <a:rPr lang="en-US"/>
                        <a:t>69.4%</a:t>
                      </a:r>
                    </a:p>
                  </a:txBody>
                  <a:tcPr anchor="ctr"/>
                </a:tc>
                <a:tc>
                  <a:txBody>
                    <a:bodyPr/>
                    <a:lstStyle/>
                    <a:p>
                      <a:pPr algn="r">
                        <a:buNone/>
                      </a:pPr>
                      <a:r>
                        <a:rPr lang="en-US"/>
                        <a:t>68.2%</a:t>
                      </a:r>
                    </a:p>
                  </a:txBody>
                  <a:tcPr anchor="ctr"/>
                </a:tc>
                <a:tc>
                  <a:txBody>
                    <a:bodyPr/>
                    <a:lstStyle/>
                    <a:p>
                      <a:pPr algn="r">
                        <a:buNone/>
                      </a:pPr>
                      <a:r>
                        <a:rPr lang="en-US" dirty="0"/>
                        <a:t>65.7%</a:t>
                      </a:r>
                    </a:p>
                  </a:txBody>
                  <a:tcPr anchor="ctr"/>
                </a:tc>
                <a:extLst>
                  <a:ext uri="{0D108BD9-81ED-4DB2-BD59-A6C34878D82A}">
                    <a16:rowId xmlns:a16="http://schemas.microsoft.com/office/drawing/2014/main" val="1967220237"/>
                  </a:ext>
                </a:extLst>
              </a:tr>
            </a:tbl>
          </a:graphicData>
        </a:graphic>
      </p:graphicFrame>
      <p:pic>
        <p:nvPicPr>
          <p:cNvPr id="9" name="Picture 8">
            <a:extLst>
              <a:ext uri="{FF2B5EF4-FFF2-40B4-BE49-F238E27FC236}">
                <a16:creationId xmlns:a16="http://schemas.microsoft.com/office/drawing/2014/main" id="{102C6DCD-725E-7BA4-1A24-7918F8D3D845}"/>
              </a:ext>
            </a:extLst>
          </p:cNvPr>
          <p:cNvPicPr>
            <a:picLocks noChangeAspect="1"/>
          </p:cNvPicPr>
          <p:nvPr/>
        </p:nvPicPr>
        <p:blipFill>
          <a:blip r:embed="rId6"/>
          <a:stretch>
            <a:fillRect/>
          </a:stretch>
        </p:blipFill>
        <p:spPr>
          <a:xfrm>
            <a:off x="3638315" y="1527936"/>
            <a:ext cx="4915365" cy="3111886"/>
          </a:xfrm>
          <a:prstGeom prst="rect">
            <a:avLst/>
          </a:prstGeom>
        </p:spPr>
      </p:pic>
      <p:pic>
        <p:nvPicPr>
          <p:cNvPr id="13" name="Audio 12">
            <a:extLst>
              <a:ext uri="{FF2B5EF4-FFF2-40B4-BE49-F238E27FC236}">
                <a16:creationId xmlns:a16="http://schemas.microsoft.com/office/drawing/2014/main" id="{9FFED256-94AA-CB11-5CA3-6C0F0ADFB98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959809782"/>
      </p:ext>
    </p:extLst>
  </p:cSld>
  <p:clrMapOvr>
    <a:masterClrMapping/>
  </p:clrMapOvr>
  <mc:AlternateContent xmlns:mc="http://schemas.openxmlformats.org/markup-compatibility/2006">
    <mc:Choice xmlns:p14="http://schemas.microsoft.com/office/powerpoint/2010/main" Requires="p14">
      <p:transition spd="slow" p14:dur="2000" advTm="27828"/>
    </mc:Choice>
    <mc:Fallback>
      <p:transition spd="slow" advTm="278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8" fill="hold" display="0">
                  <p:stCondLst>
                    <p:cond delay="indefinite"/>
                  </p:stCondLst>
                  <p:endCondLst>
                    <p:cond evt="onStopAudio" delay="0">
                      <p:tgtEl>
                        <p:sldTgt/>
                      </p:tgtEl>
                    </p:cond>
                  </p:endCondLst>
                </p:cTn>
                <p:tgtEl>
                  <p:spTgt spid="1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71661-C896-F32C-C393-7B8DB01E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CB9D7-77CE-F68A-2E6F-DE8CB941C7A5}"/>
              </a:ext>
            </a:extLst>
          </p:cNvPr>
          <p:cNvSpPr>
            <a:spLocks noGrp="1"/>
          </p:cNvSpPr>
          <p:nvPr>
            <p:ph type="title"/>
          </p:nvPr>
        </p:nvSpPr>
        <p:spPr>
          <a:xfrm>
            <a:off x="533398" y="901341"/>
            <a:ext cx="11125201" cy="746759"/>
          </a:xfrm>
        </p:spPr>
        <p:txBody>
          <a:bodyPr/>
          <a:lstStyle/>
          <a:p>
            <a:r>
              <a:rPr lang="en-US" sz="2800" dirty="0"/>
              <a:t>Competition prediction</a:t>
            </a:r>
            <a:endParaRPr lang="en-US" sz="2200" dirty="0"/>
          </a:p>
        </p:txBody>
      </p:sp>
      <p:sp>
        <p:nvSpPr>
          <p:cNvPr id="4" name="Rounded Rectangle 3">
            <a:extLst>
              <a:ext uri="{FF2B5EF4-FFF2-40B4-BE49-F238E27FC236}">
                <a16:creationId xmlns:a16="http://schemas.microsoft.com/office/drawing/2014/main" id="{D8AA9DE5-0BFB-1EEB-6C1B-A70C8CDCB938}"/>
              </a:ext>
            </a:extLst>
          </p:cNvPr>
          <p:cNvSpPr/>
          <p:nvPr/>
        </p:nvSpPr>
        <p:spPr>
          <a:xfrm>
            <a:off x="533398" y="1558888"/>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300 employees</a:t>
            </a:r>
          </a:p>
        </p:txBody>
      </p:sp>
      <p:sp>
        <p:nvSpPr>
          <p:cNvPr id="5" name="Rounded Rectangle 4">
            <a:extLst>
              <a:ext uri="{FF2B5EF4-FFF2-40B4-BE49-F238E27FC236}">
                <a16:creationId xmlns:a16="http://schemas.microsoft.com/office/drawing/2014/main" id="{F3E7EA79-73BE-04A4-97B3-980F54981456}"/>
              </a:ext>
            </a:extLst>
          </p:cNvPr>
          <p:cNvSpPr/>
          <p:nvPr/>
        </p:nvSpPr>
        <p:spPr>
          <a:xfrm>
            <a:off x="533398" y="3307770"/>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Logistic Regression Model</a:t>
            </a:r>
          </a:p>
        </p:txBody>
      </p:sp>
      <p:sp>
        <p:nvSpPr>
          <p:cNvPr id="6" name="Rounded Rectangle 5">
            <a:extLst>
              <a:ext uri="{FF2B5EF4-FFF2-40B4-BE49-F238E27FC236}">
                <a16:creationId xmlns:a16="http://schemas.microsoft.com/office/drawing/2014/main" id="{5BEBBF76-DDE5-8224-F8D8-FC8696B5EA19}"/>
              </a:ext>
            </a:extLst>
          </p:cNvPr>
          <p:cNvSpPr/>
          <p:nvPr/>
        </p:nvSpPr>
        <p:spPr>
          <a:xfrm>
            <a:off x="533398" y="5056653"/>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 Risk Threshold</a:t>
            </a:r>
          </a:p>
        </p:txBody>
      </p:sp>
      <p:sp>
        <p:nvSpPr>
          <p:cNvPr id="7" name="Rounded Rectangle 6">
            <a:extLst>
              <a:ext uri="{FF2B5EF4-FFF2-40B4-BE49-F238E27FC236}">
                <a16:creationId xmlns:a16="http://schemas.microsoft.com/office/drawing/2014/main" id="{0EDAC8C8-0D49-BE8C-57FE-E5391AF45085}"/>
              </a:ext>
            </a:extLst>
          </p:cNvPr>
          <p:cNvSpPr/>
          <p:nvPr/>
        </p:nvSpPr>
        <p:spPr>
          <a:xfrm>
            <a:off x="2997817" y="3307770"/>
            <a:ext cx="2154045"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64 Flagged</a:t>
            </a:r>
          </a:p>
          <a:p>
            <a:pPr algn="ctr"/>
            <a:r>
              <a:rPr lang="en-US" dirty="0"/>
              <a:t>236 Not Flagged</a:t>
            </a:r>
          </a:p>
        </p:txBody>
      </p:sp>
      <p:cxnSp>
        <p:nvCxnSpPr>
          <p:cNvPr id="10" name="Straight Arrow Connector 9">
            <a:extLst>
              <a:ext uri="{FF2B5EF4-FFF2-40B4-BE49-F238E27FC236}">
                <a16:creationId xmlns:a16="http://schemas.microsoft.com/office/drawing/2014/main" id="{6E28F524-F99E-AE93-A87E-9A479D9EC5C0}"/>
              </a:ext>
            </a:extLst>
          </p:cNvPr>
          <p:cNvCxnSpPr/>
          <p:nvPr/>
        </p:nvCxnSpPr>
        <p:spPr>
          <a:xfrm>
            <a:off x="2464420" y="4025590"/>
            <a:ext cx="40144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28435644-B0F4-C02F-529E-4F26151574CF}"/>
              </a:ext>
            </a:extLst>
          </p:cNvPr>
          <p:cNvPicPr>
            <a:picLocks noChangeAspect="1"/>
          </p:cNvPicPr>
          <p:nvPr/>
        </p:nvPicPr>
        <p:blipFill>
          <a:blip r:embed="rId6"/>
          <a:stretch>
            <a:fillRect/>
          </a:stretch>
        </p:blipFill>
        <p:spPr>
          <a:xfrm>
            <a:off x="5577933" y="1743600"/>
            <a:ext cx="6362208" cy="4027873"/>
          </a:xfrm>
          <a:prstGeom prst="rect">
            <a:avLst/>
          </a:prstGeom>
        </p:spPr>
      </p:pic>
      <p:pic>
        <p:nvPicPr>
          <p:cNvPr id="15" name="Audio 14">
            <a:extLst>
              <a:ext uri="{FF2B5EF4-FFF2-40B4-BE49-F238E27FC236}">
                <a16:creationId xmlns:a16="http://schemas.microsoft.com/office/drawing/2014/main" id="{52FB1D71-59D4-0BF2-AA6F-4B605ACEA68D}"/>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369502591"/>
      </p:ext>
    </p:extLst>
  </p:cSld>
  <p:clrMapOvr>
    <a:masterClrMapping/>
  </p:clrMapOvr>
  <mc:AlternateContent xmlns:mc="http://schemas.openxmlformats.org/markup-compatibility/2006">
    <mc:Choice xmlns:p14="http://schemas.microsoft.com/office/powerpoint/2010/main" Requires="p14">
      <p:transition spd="slow" p14:dur="2000" advTm="17745"/>
    </mc:Choice>
    <mc:Fallback>
      <p:transition spd="slow" advTm="177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0-#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par>
                                <p:cTn id="26" presetID="9" presetClass="entr" presetSubtype="0" fill="hold" grpId="1"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4" fill="hold" display="0">
                  <p:stCondLst>
                    <p:cond delay="indefinite"/>
                  </p:stCondLst>
                  <p:endCondLst>
                    <p:cond evt="onStopAudio" delay="0">
                      <p:tgtEl>
                        <p:sldTgt/>
                      </p:tgtEl>
                    </p:cond>
                  </p:endCondLst>
                </p:cTn>
                <p:tgtEl>
                  <p:spTgt spid="15"/>
                </p:tgtEl>
              </p:cMediaNode>
            </p:audio>
          </p:childTnLst>
        </p:cTn>
      </p:par>
    </p:tnLst>
    <p:bldLst>
      <p:bldP spid="4" grpId="0" animBg="1"/>
      <p:bldP spid="5" grpId="0" animBg="1"/>
      <p:bldP spid="6" grpId="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7BDA-61B3-28AC-ED5F-80FC94BAA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CBD5E-0055-5573-2E21-A62B1B4A2BD3}"/>
              </a:ext>
            </a:extLst>
          </p:cNvPr>
          <p:cNvSpPr>
            <a:spLocks noGrp="1"/>
          </p:cNvSpPr>
          <p:nvPr>
            <p:ph type="title"/>
          </p:nvPr>
        </p:nvSpPr>
        <p:spPr>
          <a:xfrm>
            <a:off x="533398" y="901341"/>
            <a:ext cx="11125201" cy="746759"/>
          </a:xfrm>
        </p:spPr>
        <p:txBody>
          <a:bodyPr/>
          <a:lstStyle/>
          <a:p>
            <a:r>
              <a:rPr lang="en-US" sz="2400" dirty="0"/>
              <a:t>Financial impact:</a:t>
            </a:r>
            <a:br>
              <a:rPr lang="en-US" sz="2400" dirty="0"/>
            </a:br>
            <a:r>
              <a:rPr lang="en-US" sz="1800" dirty="0"/>
              <a:t>targeted retention creates Significant Potential Financial Value</a:t>
            </a:r>
          </a:p>
        </p:txBody>
      </p:sp>
      <p:sp>
        <p:nvSpPr>
          <p:cNvPr id="3" name="Content Placeholder 2">
            <a:extLst>
              <a:ext uri="{FF2B5EF4-FFF2-40B4-BE49-F238E27FC236}">
                <a16:creationId xmlns:a16="http://schemas.microsoft.com/office/drawing/2014/main" id="{C3C9C376-2E5B-1B19-3273-F8D27D1CB98E}"/>
              </a:ext>
            </a:extLst>
          </p:cNvPr>
          <p:cNvSpPr>
            <a:spLocks noGrp="1"/>
          </p:cNvSpPr>
          <p:nvPr>
            <p:ph idx="1"/>
          </p:nvPr>
        </p:nvSpPr>
        <p:spPr>
          <a:xfrm>
            <a:off x="533395" y="2573721"/>
            <a:ext cx="11125202" cy="1710558"/>
          </a:xfrm>
        </p:spPr>
        <p:txBody>
          <a:bodyPr>
            <a:normAutofit fontScale="92500" lnSpcReduction="10000"/>
          </a:bodyPr>
          <a:lstStyle/>
          <a:p>
            <a:pPr marL="0" indent="0">
              <a:buNone/>
            </a:pPr>
            <a:r>
              <a:rPr lang="en-US" sz="1800" dirty="0"/>
              <a:t>300 Employees -&gt; 64 Flagged by Model -&gt; </a:t>
            </a:r>
          </a:p>
          <a:p>
            <a:pPr marL="0" indent="0">
              <a:buNone/>
            </a:pPr>
            <a:r>
              <a:rPr lang="en-US" sz="1800" dirty="0"/>
              <a:t>Retention Intervention ($200 x 64= $12,800) -&gt; </a:t>
            </a:r>
          </a:p>
          <a:p>
            <a:pPr marL="0" indent="0">
              <a:buNone/>
            </a:pPr>
            <a:r>
              <a:rPr lang="en-US" sz="1800" dirty="0"/>
              <a:t>32 Employees Retained (50% Intervention Success) -&gt; </a:t>
            </a:r>
          </a:p>
          <a:p>
            <a:pPr marL="0" indent="0">
              <a:buNone/>
            </a:pPr>
            <a:r>
              <a:rPr lang="en-US" sz="1800" dirty="0"/>
              <a:t>$2.14M Avoided Replacement Cost -&gt; </a:t>
            </a:r>
          </a:p>
          <a:p>
            <a:pPr marL="0" indent="0">
              <a:buNone/>
            </a:pPr>
            <a:r>
              <a:rPr lang="en-US" sz="1800" b="1" dirty="0"/>
              <a:t>$2.13M Net Savings</a:t>
            </a:r>
          </a:p>
        </p:txBody>
      </p:sp>
      <p:graphicFrame>
        <p:nvGraphicFramePr>
          <p:cNvPr id="4" name="Table 3">
            <a:extLst>
              <a:ext uri="{FF2B5EF4-FFF2-40B4-BE49-F238E27FC236}">
                <a16:creationId xmlns:a16="http://schemas.microsoft.com/office/drawing/2014/main" id="{D52EB98E-08A6-8FFD-D952-D1BBD57BCBE8}"/>
              </a:ext>
            </a:extLst>
          </p:cNvPr>
          <p:cNvGraphicFramePr>
            <a:graphicFrameLocks noGrp="1"/>
          </p:cNvGraphicFramePr>
          <p:nvPr>
            <p:extLst>
              <p:ext uri="{D42A27DB-BD31-4B8C-83A1-F6EECF244321}">
                <p14:modId xmlns:p14="http://schemas.microsoft.com/office/powerpoint/2010/main" val="2788235384"/>
              </p:ext>
            </p:extLst>
          </p:nvPr>
        </p:nvGraphicFramePr>
        <p:xfrm>
          <a:off x="533397" y="4373878"/>
          <a:ext cx="11125200" cy="2103120"/>
        </p:xfrm>
        <a:graphic>
          <a:graphicData uri="http://schemas.openxmlformats.org/drawingml/2006/table">
            <a:tbl>
              <a:tblPr lastRow="1">
                <a:tableStyleId>{284E427A-3D55-4303-BF80-6455036E1DE7}</a:tableStyleId>
              </a:tblPr>
              <a:tblGrid>
                <a:gridCol w="1854200">
                  <a:extLst>
                    <a:ext uri="{9D8B030D-6E8A-4147-A177-3AD203B41FA5}">
                      <a16:colId xmlns:a16="http://schemas.microsoft.com/office/drawing/2014/main" val="4090630828"/>
                    </a:ext>
                  </a:extLst>
                </a:gridCol>
                <a:gridCol w="1854200">
                  <a:extLst>
                    <a:ext uri="{9D8B030D-6E8A-4147-A177-3AD203B41FA5}">
                      <a16:colId xmlns:a16="http://schemas.microsoft.com/office/drawing/2014/main" val="4032792852"/>
                    </a:ext>
                  </a:extLst>
                </a:gridCol>
                <a:gridCol w="1854200">
                  <a:extLst>
                    <a:ext uri="{9D8B030D-6E8A-4147-A177-3AD203B41FA5}">
                      <a16:colId xmlns:a16="http://schemas.microsoft.com/office/drawing/2014/main" val="1084449579"/>
                    </a:ext>
                  </a:extLst>
                </a:gridCol>
                <a:gridCol w="1854200">
                  <a:extLst>
                    <a:ext uri="{9D8B030D-6E8A-4147-A177-3AD203B41FA5}">
                      <a16:colId xmlns:a16="http://schemas.microsoft.com/office/drawing/2014/main" val="4115936839"/>
                    </a:ext>
                  </a:extLst>
                </a:gridCol>
                <a:gridCol w="1854200">
                  <a:extLst>
                    <a:ext uri="{9D8B030D-6E8A-4147-A177-3AD203B41FA5}">
                      <a16:colId xmlns:a16="http://schemas.microsoft.com/office/drawing/2014/main" val="3348956477"/>
                    </a:ext>
                  </a:extLst>
                </a:gridCol>
                <a:gridCol w="1854200">
                  <a:extLst>
                    <a:ext uri="{9D8B030D-6E8A-4147-A177-3AD203B41FA5}">
                      <a16:colId xmlns:a16="http://schemas.microsoft.com/office/drawing/2014/main" val="2351502717"/>
                    </a:ext>
                  </a:extLst>
                </a:gridCol>
              </a:tblGrid>
              <a:tr h="0">
                <a:tc>
                  <a:txBody>
                    <a:bodyPr/>
                    <a:lstStyle/>
                    <a:p>
                      <a:pPr>
                        <a:buNone/>
                      </a:pPr>
                      <a:r>
                        <a:rPr lang="en-US" dirty="0"/>
                        <a:t>Intervention success</a:t>
                      </a:r>
                    </a:p>
                  </a:txBody>
                  <a:tcPr anchor="ctr"/>
                </a:tc>
                <a:tc>
                  <a:txBody>
                    <a:bodyPr/>
                    <a:lstStyle/>
                    <a:p>
                      <a:pPr algn="r">
                        <a:buNone/>
                      </a:pPr>
                      <a:r>
                        <a:rPr lang="en-US" dirty="0"/>
                        <a:t>Employees retained</a:t>
                      </a:r>
                    </a:p>
                  </a:txBody>
                  <a:tcPr anchor="ctr"/>
                </a:tc>
                <a:tc>
                  <a:txBody>
                    <a:bodyPr/>
                    <a:lstStyle/>
                    <a:p>
                      <a:pPr algn="r">
                        <a:buNone/>
                      </a:pPr>
                      <a:r>
                        <a:rPr lang="en-US"/>
                        <a:t>50% replacement</a:t>
                      </a:r>
                    </a:p>
                  </a:txBody>
                  <a:tcPr anchor="ctr"/>
                </a:tc>
                <a:tc>
                  <a:txBody>
                    <a:bodyPr/>
                    <a:lstStyle/>
                    <a:p>
                      <a:pPr algn="r">
                        <a:buNone/>
                      </a:pPr>
                      <a:r>
                        <a:rPr lang="en-US"/>
                        <a:t>100% replacement</a:t>
                      </a:r>
                    </a:p>
                  </a:txBody>
                  <a:tcPr anchor="ctr"/>
                </a:tc>
                <a:tc>
                  <a:txBody>
                    <a:bodyPr/>
                    <a:lstStyle/>
                    <a:p>
                      <a:pPr algn="r">
                        <a:buNone/>
                      </a:pPr>
                      <a:r>
                        <a:rPr lang="en-US"/>
                        <a:t>200% replacement</a:t>
                      </a:r>
                    </a:p>
                  </a:txBody>
                  <a:tcPr anchor="ctr"/>
                </a:tc>
                <a:tc>
                  <a:txBody>
                    <a:bodyPr/>
                    <a:lstStyle/>
                    <a:p>
                      <a:pPr algn="r">
                        <a:buNone/>
                      </a:pPr>
                      <a:r>
                        <a:rPr lang="en-US"/>
                        <a:t>400% replacement</a:t>
                      </a:r>
                    </a:p>
                  </a:txBody>
                  <a:tcPr anchor="ctr"/>
                </a:tc>
                <a:extLst>
                  <a:ext uri="{0D108BD9-81ED-4DB2-BD59-A6C34878D82A}">
                    <a16:rowId xmlns:a16="http://schemas.microsoft.com/office/drawing/2014/main" val="3307219896"/>
                  </a:ext>
                </a:extLst>
              </a:tr>
              <a:tr h="0">
                <a:tc>
                  <a:txBody>
                    <a:bodyPr/>
                    <a:lstStyle/>
                    <a:p>
                      <a:pPr>
                        <a:buNone/>
                      </a:pPr>
                      <a:r>
                        <a:rPr lang="en-US" dirty="0"/>
                        <a:t>25%</a:t>
                      </a:r>
                    </a:p>
                  </a:txBody>
                  <a:tcPr anchor="ctr"/>
                </a:tc>
                <a:tc>
                  <a:txBody>
                    <a:bodyPr/>
                    <a:lstStyle/>
                    <a:p>
                      <a:pPr algn="r">
                        <a:buNone/>
                      </a:pPr>
                      <a:r>
                        <a:rPr lang="en-US"/>
                        <a:t>16</a:t>
                      </a:r>
                    </a:p>
                  </a:txBody>
                  <a:tcPr anchor="ctr"/>
                </a:tc>
                <a:tc>
                  <a:txBody>
                    <a:bodyPr/>
                    <a:lstStyle/>
                    <a:p>
                      <a:pPr algn="r">
                        <a:buNone/>
                      </a:pPr>
                      <a:r>
                        <a:rPr lang="en-US"/>
                        <a:t>$522K</a:t>
                      </a:r>
                    </a:p>
                  </a:txBody>
                  <a:tcPr anchor="ctr"/>
                </a:tc>
                <a:tc>
                  <a:txBody>
                    <a:bodyPr/>
                    <a:lstStyle/>
                    <a:p>
                      <a:pPr algn="r">
                        <a:buNone/>
                      </a:pPr>
                      <a:r>
                        <a:rPr lang="en-US"/>
                        <a:t>$1.057M</a:t>
                      </a:r>
                    </a:p>
                  </a:txBody>
                  <a:tcPr anchor="ctr"/>
                </a:tc>
                <a:tc>
                  <a:txBody>
                    <a:bodyPr/>
                    <a:lstStyle/>
                    <a:p>
                      <a:pPr algn="r">
                        <a:buNone/>
                      </a:pPr>
                      <a:r>
                        <a:rPr lang="en-US"/>
                        <a:t>$2.127M</a:t>
                      </a:r>
                    </a:p>
                  </a:txBody>
                  <a:tcPr anchor="ctr"/>
                </a:tc>
                <a:tc>
                  <a:txBody>
                    <a:bodyPr/>
                    <a:lstStyle/>
                    <a:p>
                      <a:pPr algn="r">
                        <a:buNone/>
                      </a:pPr>
                      <a:r>
                        <a:rPr lang="en-US"/>
                        <a:t>$4.266M</a:t>
                      </a:r>
                    </a:p>
                  </a:txBody>
                  <a:tcPr anchor="ctr"/>
                </a:tc>
                <a:extLst>
                  <a:ext uri="{0D108BD9-81ED-4DB2-BD59-A6C34878D82A}">
                    <a16:rowId xmlns:a16="http://schemas.microsoft.com/office/drawing/2014/main" val="2230898983"/>
                  </a:ext>
                </a:extLst>
              </a:tr>
              <a:tr h="0">
                <a:tc>
                  <a:txBody>
                    <a:bodyPr/>
                    <a:lstStyle/>
                    <a:p>
                      <a:pPr>
                        <a:buNone/>
                      </a:pPr>
                      <a:r>
                        <a:rPr lang="en-US" dirty="0"/>
                        <a:t>50%</a:t>
                      </a:r>
                    </a:p>
                  </a:txBody>
                  <a:tcPr anchor="ctr"/>
                </a:tc>
                <a:tc>
                  <a:txBody>
                    <a:bodyPr/>
                    <a:lstStyle/>
                    <a:p>
                      <a:pPr algn="r">
                        <a:buNone/>
                      </a:pPr>
                      <a:r>
                        <a:rPr lang="en-US"/>
                        <a:t>32</a:t>
                      </a:r>
                    </a:p>
                  </a:txBody>
                  <a:tcPr anchor="ctr"/>
                </a:tc>
                <a:tc>
                  <a:txBody>
                    <a:bodyPr/>
                    <a:lstStyle/>
                    <a:p>
                      <a:pPr algn="r">
                        <a:buNone/>
                      </a:pPr>
                      <a:r>
                        <a:rPr lang="en-US"/>
                        <a:t>$1.057M</a:t>
                      </a:r>
                    </a:p>
                  </a:txBody>
                  <a:tcPr anchor="ctr"/>
                </a:tc>
                <a:tc>
                  <a:txBody>
                    <a:bodyPr/>
                    <a:lstStyle/>
                    <a:p>
                      <a:pPr algn="r">
                        <a:buNone/>
                      </a:pPr>
                      <a:r>
                        <a:rPr lang="en-US" b="1" u="sng" dirty="0"/>
                        <a:t>$2.127M</a:t>
                      </a:r>
                    </a:p>
                  </a:txBody>
                  <a:tcPr anchor="ctr"/>
                </a:tc>
                <a:tc>
                  <a:txBody>
                    <a:bodyPr/>
                    <a:lstStyle/>
                    <a:p>
                      <a:pPr algn="r">
                        <a:buNone/>
                      </a:pPr>
                      <a:r>
                        <a:rPr lang="en-US"/>
                        <a:t>$4.266M</a:t>
                      </a:r>
                    </a:p>
                  </a:txBody>
                  <a:tcPr anchor="ctr"/>
                </a:tc>
                <a:tc>
                  <a:txBody>
                    <a:bodyPr/>
                    <a:lstStyle/>
                    <a:p>
                      <a:pPr algn="r">
                        <a:buNone/>
                      </a:pPr>
                      <a:r>
                        <a:rPr lang="en-US" dirty="0"/>
                        <a:t>$8.545M</a:t>
                      </a:r>
                    </a:p>
                  </a:txBody>
                  <a:tcPr anchor="ctr"/>
                </a:tc>
                <a:extLst>
                  <a:ext uri="{0D108BD9-81ED-4DB2-BD59-A6C34878D82A}">
                    <a16:rowId xmlns:a16="http://schemas.microsoft.com/office/drawing/2014/main" val="3450992815"/>
                  </a:ext>
                </a:extLst>
              </a:tr>
              <a:tr h="0">
                <a:tc>
                  <a:txBody>
                    <a:bodyPr/>
                    <a:lstStyle/>
                    <a:p>
                      <a:pPr>
                        <a:buNone/>
                      </a:pPr>
                      <a:r>
                        <a:rPr lang="en-US"/>
                        <a:t>75%</a:t>
                      </a:r>
                    </a:p>
                  </a:txBody>
                  <a:tcPr anchor="ctr"/>
                </a:tc>
                <a:tc>
                  <a:txBody>
                    <a:bodyPr/>
                    <a:lstStyle/>
                    <a:p>
                      <a:pPr algn="r">
                        <a:buNone/>
                      </a:pPr>
                      <a:r>
                        <a:rPr lang="en-US"/>
                        <a:t>48</a:t>
                      </a:r>
                    </a:p>
                  </a:txBody>
                  <a:tcPr anchor="ctr"/>
                </a:tc>
                <a:tc>
                  <a:txBody>
                    <a:bodyPr/>
                    <a:lstStyle/>
                    <a:p>
                      <a:pPr algn="r">
                        <a:buNone/>
                      </a:pPr>
                      <a:r>
                        <a:rPr lang="en-US"/>
                        <a:t>$1.592M</a:t>
                      </a:r>
                    </a:p>
                  </a:txBody>
                  <a:tcPr anchor="ctr"/>
                </a:tc>
                <a:tc>
                  <a:txBody>
                    <a:bodyPr/>
                    <a:lstStyle/>
                    <a:p>
                      <a:pPr algn="r">
                        <a:buNone/>
                      </a:pPr>
                      <a:r>
                        <a:rPr lang="en-US"/>
                        <a:t>$3.196M</a:t>
                      </a:r>
                    </a:p>
                  </a:txBody>
                  <a:tcPr anchor="ctr"/>
                </a:tc>
                <a:tc>
                  <a:txBody>
                    <a:bodyPr/>
                    <a:lstStyle/>
                    <a:p>
                      <a:pPr algn="r">
                        <a:buNone/>
                      </a:pPr>
                      <a:r>
                        <a:rPr lang="en-US"/>
                        <a:t>$6.406M</a:t>
                      </a:r>
                    </a:p>
                  </a:txBody>
                  <a:tcPr anchor="ctr"/>
                </a:tc>
                <a:tc>
                  <a:txBody>
                    <a:bodyPr/>
                    <a:lstStyle/>
                    <a:p>
                      <a:pPr algn="r">
                        <a:buNone/>
                      </a:pPr>
                      <a:r>
                        <a:rPr lang="en-US"/>
                        <a:t>$12.824M</a:t>
                      </a:r>
                    </a:p>
                  </a:txBody>
                  <a:tcPr anchor="ctr"/>
                </a:tc>
                <a:extLst>
                  <a:ext uri="{0D108BD9-81ED-4DB2-BD59-A6C34878D82A}">
                    <a16:rowId xmlns:a16="http://schemas.microsoft.com/office/drawing/2014/main" val="1351852887"/>
                  </a:ext>
                </a:extLst>
              </a:tr>
              <a:tr h="0">
                <a:tc>
                  <a:txBody>
                    <a:bodyPr/>
                    <a:lstStyle/>
                    <a:p>
                      <a:pPr>
                        <a:buNone/>
                      </a:pPr>
                      <a:r>
                        <a:rPr lang="en-US" b="0" dirty="0"/>
                        <a:t>100%</a:t>
                      </a:r>
                    </a:p>
                  </a:txBody>
                  <a:tcPr anchor="ctr"/>
                </a:tc>
                <a:tc>
                  <a:txBody>
                    <a:bodyPr/>
                    <a:lstStyle/>
                    <a:p>
                      <a:pPr algn="r">
                        <a:buNone/>
                      </a:pPr>
                      <a:r>
                        <a:rPr lang="en-US" b="0"/>
                        <a:t>64</a:t>
                      </a:r>
                    </a:p>
                  </a:txBody>
                  <a:tcPr anchor="ctr"/>
                </a:tc>
                <a:tc>
                  <a:txBody>
                    <a:bodyPr/>
                    <a:lstStyle/>
                    <a:p>
                      <a:pPr algn="r">
                        <a:buNone/>
                      </a:pPr>
                      <a:r>
                        <a:rPr lang="en-US" b="0"/>
                        <a:t>$2.127M</a:t>
                      </a:r>
                    </a:p>
                  </a:txBody>
                  <a:tcPr anchor="ctr"/>
                </a:tc>
                <a:tc>
                  <a:txBody>
                    <a:bodyPr/>
                    <a:lstStyle/>
                    <a:p>
                      <a:pPr algn="r">
                        <a:buNone/>
                      </a:pPr>
                      <a:r>
                        <a:rPr lang="en-US" b="0"/>
                        <a:t>$4.266M</a:t>
                      </a:r>
                    </a:p>
                  </a:txBody>
                  <a:tcPr anchor="ctr"/>
                </a:tc>
                <a:tc>
                  <a:txBody>
                    <a:bodyPr/>
                    <a:lstStyle/>
                    <a:p>
                      <a:pPr algn="r">
                        <a:buNone/>
                      </a:pPr>
                      <a:r>
                        <a:rPr lang="en-US" b="0"/>
                        <a:t>$8.545M</a:t>
                      </a:r>
                    </a:p>
                  </a:txBody>
                  <a:tcPr anchor="ctr"/>
                </a:tc>
                <a:tc>
                  <a:txBody>
                    <a:bodyPr/>
                    <a:lstStyle/>
                    <a:p>
                      <a:pPr algn="r">
                        <a:buNone/>
                      </a:pPr>
                      <a:r>
                        <a:rPr lang="en-US" b="0" dirty="0"/>
                        <a:t>$17.103M</a:t>
                      </a:r>
                    </a:p>
                  </a:txBody>
                  <a:tcPr anchor="ctr"/>
                </a:tc>
                <a:extLst>
                  <a:ext uri="{0D108BD9-81ED-4DB2-BD59-A6C34878D82A}">
                    <a16:rowId xmlns:a16="http://schemas.microsoft.com/office/drawing/2014/main" val="1075601191"/>
                  </a:ext>
                </a:extLst>
              </a:tr>
            </a:tbl>
          </a:graphicData>
        </a:graphic>
      </p:graphicFrame>
      <p:graphicFrame>
        <p:nvGraphicFramePr>
          <p:cNvPr id="5" name="Table 4">
            <a:extLst>
              <a:ext uri="{FF2B5EF4-FFF2-40B4-BE49-F238E27FC236}">
                <a16:creationId xmlns:a16="http://schemas.microsoft.com/office/drawing/2014/main" id="{44380598-F86F-0A81-B3AA-3D6DA5BA3EC1}"/>
              </a:ext>
            </a:extLst>
          </p:cNvPr>
          <p:cNvGraphicFramePr>
            <a:graphicFrameLocks noGrp="1"/>
          </p:cNvGraphicFramePr>
          <p:nvPr>
            <p:extLst>
              <p:ext uri="{D42A27DB-BD31-4B8C-83A1-F6EECF244321}">
                <p14:modId xmlns:p14="http://schemas.microsoft.com/office/powerpoint/2010/main" val="3398861140"/>
              </p:ext>
            </p:extLst>
          </p:nvPr>
        </p:nvGraphicFramePr>
        <p:xfrm>
          <a:off x="533397" y="1737699"/>
          <a:ext cx="11125200" cy="640080"/>
        </p:xfrm>
        <a:graphic>
          <a:graphicData uri="http://schemas.openxmlformats.org/drawingml/2006/table">
            <a:tbl>
              <a:tblPr>
                <a:tableStyleId>{284E427A-3D55-4303-BF80-6455036E1DE7}</a:tableStyleId>
              </a:tblPr>
              <a:tblGrid>
                <a:gridCol w="3708400">
                  <a:extLst>
                    <a:ext uri="{9D8B030D-6E8A-4147-A177-3AD203B41FA5}">
                      <a16:colId xmlns:a16="http://schemas.microsoft.com/office/drawing/2014/main" val="4093316698"/>
                    </a:ext>
                  </a:extLst>
                </a:gridCol>
                <a:gridCol w="3708400">
                  <a:extLst>
                    <a:ext uri="{9D8B030D-6E8A-4147-A177-3AD203B41FA5}">
                      <a16:colId xmlns:a16="http://schemas.microsoft.com/office/drawing/2014/main" val="3446614122"/>
                    </a:ext>
                  </a:extLst>
                </a:gridCol>
                <a:gridCol w="3708400">
                  <a:extLst>
                    <a:ext uri="{9D8B030D-6E8A-4147-A177-3AD203B41FA5}">
                      <a16:colId xmlns:a16="http://schemas.microsoft.com/office/drawing/2014/main" val="2550277980"/>
                    </a:ext>
                  </a:extLst>
                </a:gridCol>
              </a:tblGrid>
              <a:tr h="554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64 Employees flagged</a:t>
                      </a:r>
                    </a:p>
                    <a:p>
                      <a:pPr>
                        <a:buNone/>
                      </a:pP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$12.8K Intervention cost</a:t>
                      </a:r>
                    </a:p>
                    <a:p>
                      <a:pPr>
                        <a:buNone/>
                      </a:pPr>
                      <a:endParaRPr 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$2.13M Potential net savings</a:t>
                      </a:r>
                    </a:p>
                    <a:p>
                      <a:pPr>
                        <a:buNone/>
                      </a:pPr>
                      <a:endParaRPr lang="en-US" b="1" dirty="0"/>
                    </a:p>
                  </a:txBody>
                  <a:tcPr anchor="ctr"/>
                </a:tc>
                <a:extLst>
                  <a:ext uri="{0D108BD9-81ED-4DB2-BD59-A6C34878D82A}">
                    <a16:rowId xmlns:a16="http://schemas.microsoft.com/office/drawing/2014/main" val="4240635267"/>
                  </a:ext>
                </a:extLst>
              </a:tr>
            </a:tbl>
          </a:graphicData>
        </a:graphic>
      </p:graphicFrame>
      <p:pic>
        <p:nvPicPr>
          <p:cNvPr id="13" name="Audio 12">
            <a:extLst>
              <a:ext uri="{FF2B5EF4-FFF2-40B4-BE49-F238E27FC236}">
                <a16:creationId xmlns:a16="http://schemas.microsoft.com/office/drawing/2014/main" id="{6BFD7C20-12B7-6569-66AB-ACEA621AFEA0}"/>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078990829"/>
      </p:ext>
    </p:extLst>
  </p:cSld>
  <p:clrMapOvr>
    <a:masterClrMapping/>
  </p:clrMapOvr>
  <mc:AlternateContent xmlns:mc="http://schemas.openxmlformats.org/markup-compatibility/2006">
    <mc:Choice xmlns:p14="http://schemas.microsoft.com/office/powerpoint/2010/main" Requires="p14">
      <p:transition spd="slow" p14:dur="2000" advTm="35985"/>
    </mc:Choice>
    <mc:Fallback>
      <p:transition spd="slow" advTm="359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9" fill="hold" display="0">
                  <p:stCondLst>
                    <p:cond delay="indefinite"/>
                  </p:stCondLst>
                  <p:endCondLst>
                    <p:cond evt="onStopAudio" delay="0">
                      <p:tgtEl>
                        <p:sldTgt/>
                      </p:tgtEl>
                    </p:cond>
                  </p:endCondLst>
                </p:cTn>
                <p:tgtEl>
                  <p:spTgt spid="13"/>
                </p:tgtEl>
              </p:cMediaNode>
            </p:audio>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35AF-E6D9-04AF-EB80-9993D5BFB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76058-4263-486F-8138-F0FF477D6964}"/>
              </a:ext>
            </a:extLst>
          </p:cNvPr>
          <p:cNvSpPr>
            <a:spLocks noGrp="1"/>
          </p:cNvSpPr>
          <p:nvPr>
            <p:ph type="title"/>
          </p:nvPr>
        </p:nvSpPr>
        <p:spPr>
          <a:xfrm>
            <a:off x="533398" y="901341"/>
            <a:ext cx="11125201" cy="746759"/>
          </a:xfrm>
        </p:spPr>
        <p:txBody>
          <a:bodyPr>
            <a:normAutofit/>
          </a:bodyPr>
          <a:lstStyle/>
          <a:p>
            <a:r>
              <a:rPr lang="en-US" sz="2300" dirty="0"/>
              <a:t>Targeted Retention Strategies Can Reduce Attrition risk</a:t>
            </a:r>
          </a:p>
        </p:txBody>
      </p:sp>
      <p:sp>
        <p:nvSpPr>
          <p:cNvPr id="3" name="Content Placeholder 2">
            <a:extLst>
              <a:ext uri="{FF2B5EF4-FFF2-40B4-BE49-F238E27FC236}">
                <a16:creationId xmlns:a16="http://schemas.microsoft.com/office/drawing/2014/main" id="{7235B90C-B08F-984C-B923-D4AB34A2EF1F}"/>
              </a:ext>
            </a:extLst>
          </p:cNvPr>
          <p:cNvSpPr>
            <a:spLocks noGrp="1"/>
          </p:cNvSpPr>
          <p:nvPr>
            <p:ph idx="1"/>
          </p:nvPr>
        </p:nvSpPr>
        <p:spPr>
          <a:xfrm>
            <a:off x="533396" y="4175758"/>
            <a:ext cx="11125202" cy="3047998"/>
          </a:xfrm>
        </p:spPr>
        <p:txBody>
          <a:bodyPr>
            <a:normAutofit/>
          </a:bodyPr>
          <a:lstStyle/>
          <a:p>
            <a:endParaRPr lang="en-US" dirty="0"/>
          </a:p>
          <a:p>
            <a:endParaRPr lang="en-US" dirty="0"/>
          </a:p>
        </p:txBody>
      </p:sp>
      <p:sp>
        <p:nvSpPr>
          <p:cNvPr id="4" name="Rectangle 3">
            <a:extLst>
              <a:ext uri="{FF2B5EF4-FFF2-40B4-BE49-F238E27FC236}">
                <a16:creationId xmlns:a16="http://schemas.microsoft.com/office/drawing/2014/main" id="{A514F418-8180-5F03-08A0-45F7912E6E41}"/>
              </a:ext>
            </a:extLst>
          </p:cNvPr>
          <p:cNvSpPr/>
          <p:nvPr/>
        </p:nvSpPr>
        <p:spPr>
          <a:xfrm>
            <a:off x="533398" y="1371600"/>
            <a:ext cx="3481041" cy="20574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a:t>1)</a:t>
            </a:r>
          </a:p>
          <a:p>
            <a:r>
              <a:rPr lang="en-US" b="1" dirty="0"/>
              <a:t>Reduce Overtime Risk: </a:t>
            </a:r>
          </a:p>
          <a:p>
            <a:r>
              <a:rPr lang="en-US" dirty="0"/>
              <a:t>5.3× higher odds of attrition</a:t>
            </a:r>
          </a:p>
          <a:p>
            <a:endParaRPr lang="en-US" b="1" dirty="0"/>
          </a:p>
          <a:p>
            <a:r>
              <a:rPr lang="en-US" b="1" dirty="0"/>
              <a:t>Recommendation</a:t>
            </a:r>
            <a:r>
              <a:rPr lang="en-US" dirty="0"/>
              <a:t>: Monitor Overtime and Workload</a:t>
            </a:r>
          </a:p>
        </p:txBody>
      </p:sp>
      <p:sp>
        <p:nvSpPr>
          <p:cNvPr id="7" name="Rectangle 6">
            <a:extLst>
              <a:ext uri="{FF2B5EF4-FFF2-40B4-BE49-F238E27FC236}">
                <a16:creationId xmlns:a16="http://schemas.microsoft.com/office/drawing/2014/main" id="{4A07631F-4E02-2F2B-79B6-3A2150866C88}"/>
              </a:ext>
            </a:extLst>
          </p:cNvPr>
          <p:cNvSpPr/>
          <p:nvPr/>
        </p:nvSpPr>
        <p:spPr>
          <a:xfrm>
            <a:off x="4355476" y="1371599"/>
            <a:ext cx="3481041" cy="2057401"/>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a:t>2)</a:t>
            </a:r>
          </a:p>
          <a:p>
            <a:r>
              <a:rPr lang="en-US" b="1" dirty="0"/>
              <a:t>Strengthen Engagement: </a:t>
            </a:r>
          </a:p>
          <a:p>
            <a:r>
              <a:rPr lang="en-US" dirty="0"/>
              <a:t>p &lt; 0.001</a:t>
            </a:r>
          </a:p>
          <a:p>
            <a:endParaRPr lang="en-US" b="1" dirty="0"/>
          </a:p>
          <a:p>
            <a:r>
              <a:rPr lang="en-US" b="1" dirty="0"/>
              <a:t>Recommendation</a:t>
            </a:r>
            <a:r>
              <a:rPr lang="en-US" dirty="0"/>
              <a:t>: Increase Involvement and Engagement</a:t>
            </a:r>
          </a:p>
        </p:txBody>
      </p:sp>
      <p:sp>
        <p:nvSpPr>
          <p:cNvPr id="8" name="Rectangle 7">
            <a:extLst>
              <a:ext uri="{FF2B5EF4-FFF2-40B4-BE49-F238E27FC236}">
                <a16:creationId xmlns:a16="http://schemas.microsoft.com/office/drawing/2014/main" id="{5AB8B57C-FAD0-C6C3-FC89-F334D1CF0445}"/>
              </a:ext>
            </a:extLst>
          </p:cNvPr>
          <p:cNvSpPr/>
          <p:nvPr/>
        </p:nvSpPr>
        <p:spPr>
          <a:xfrm>
            <a:off x="8177554" y="1371599"/>
            <a:ext cx="3481041" cy="2057401"/>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a:t>3)</a:t>
            </a:r>
          </a:p>
          <a:p>
            <a:r>
              <a:rPr lang="en-US" b="1" dirty="0"/>
              <a:t>Target Benefits &amp; Incentives: </a:t>
            </a:r>
          </a:p>
          <a:p>
            <a:r>
              <a:rPr lang="en-US" dirty="0"/>
              <a:t>p &lt; 0.01</a:t>
            </a:r>
          </a:p>
          <a:p>
            <a:endParaRPr lang="en-US" b="1" dirty="0"/>
          </a:p>
          <a:p>
            <a:r>
              <a:rPr lang="en-US" b="1" dirty="0"/>
              <a:t>Recommendation</a:t>
            </a:r>
            <a:r>
              <a:rPr lang="en-US" dirty="0"/>
              <a:t>: Review benefits for high-risk employees</a:t>
            </a:r>
          </a:p>
        </p:txBody>
      </p:sp>
      <p:sp>
        <p:nvSpPr>
          <p:cNvPr id="9" name="TextBox 8">
            <a:extLst>
              <a:ext uri="{FF2B5EF4-FFF2-40B4-BE49-F238E27FC236}">
                <a16:creationId xmlns:a16="http://schemas.microsoft.com/office/drawing/2014/main" id="{4029F558-785C-7320-A150-5B8FE64B74BF}"/>
              </a:ext>
            </a:extLst>
          </p:cNvPr>
          <p:cNvSpPr txBox="1"/>
          <p:nvPr/>
        </p:nvSpPr>
        <p:spPr>
          <a:xfrm>
            <a:off x="533396" y="3667926"/>
            <a:ext cx="11041570" cy="830997"/>
          </a:xfrm>
          <a:prstGeom prst="rect">
            <a:avLst/>
          </a:prstGeom>
          <a:noFill/>
        </p:spPr>
        <p:txBody>
          <a:bodyPr wrap="square" rtlCol="0">
            <a:spAutoFit/>
          </a:bodyPr>
          <a:lstStyle/>
          <a:p>
            <a:pPr algn="ctr"/>
            <a:r>
              <a:rPr lang="en-US" sz="2400" u="sng" dirty="0"/>
              <a:t>Model-Driven Retention Program</a:t>
            </a:r>
          </a:p>
          <a:p>
            <a:pPr algn="ctr"/>
            <a:r>
              <a:rPr lang="en-US" sz="2400" dirty="0"/>
              <a:t>Predict → Identify → Intervene → Measure → Refine</a:t>
            </a:r>
          </a:p>
        </p:txBody>
      </p:sp>
      <p:graphicFrame>
        <p:nvGraphicFramePr>
          <p:cNvPr id="10" name="Diagram 9">
            <a:extLst>
              <a:ext uri="{FF2B5EF4-FFF2-40B4-BE49-F238E27FC236}">
                <a16:creationId xmlns:a16="http://schemas.microsoft.com/office/drawing/2014/main" id="{27A6A751-B0FE-8573-36EC-A49EECC9BF7F}"/>
              </a:ext>
            </a:extLst>
          </p:cNvPr>
          <p:cNvGraphicFramePr/>
          <p:nvPr>
            <p:extLst>
              <p:ext uri="{D42A27DB-BD31-4B8C-83A1-F6EECF244321}">
                <p14:modId xmlns:p14="http://schemas.microsoft.com/office/powerpoint/2010/main" val="4166686672"/>
              </p:ext>
            </p:extLst>
          </p:nvPr>
        </p:nvGraphicFramePr>
        <p:xfrm>
          <a:off x="2290180" y="4822089"/>
          <a:ext cx="7611639" cy="16034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4" name="Audio 13">
            <a:extLst>
              <a:ext uri="{FF2B5EF4-FFF2-40B4-BE49-F238E27FC236}">
                <a16:creationId xmlns:a16="http://schemas.microsoft.com/office/drawing/2014/main" id="{60B38A4E-8FC4-9DB3-55F6-B5B7A876129B}"/>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093411831"/>
      </p:ext>
    </p:extLst>
  </p:cSld>
  <p:clrMapOvr>
    <a:masterClrMapping/>
  </p:clrMapOvr>
  <mc:AlternateContent xmlns:mc="http://schemas.openxmlformats.org/markup-compatibility/2006">
    <mc:Choice xmlns:p14="http://schemas.microsoft.com/office/powerpoint/2010/main" Requires="p14">
      <p:transition spd="slow" p14:dur="2000" advTm="34316"/>
    </mc:Choice>
    <mc:Fallback>
      <p:transition spd="slow" advTm="343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6" fill="hold" display="0">
                  <p:stCondLst>
                    <p:cond delay="indefinite"/>
                  </p:stCondLst>
                  <p:endCondLst>
                    <p:cond evt="onStopAudio" delay="0">
                      <p:tgtEl>
                        <p:sldTgt/>
                      </p:tgtEl>
                    </p:cond>
                  </p:endCondLst>
                </p:cTn>
                <p:tgtEl>
                  <p:spTgt spid="14"/>
                </p:tgtEl>
              </p:cMediaNode>
            </p:audio>
          </p:childTnLst>
        </p:cTn>
      </p:par>
    </p:tnLst>
    <p:bldLst>
      <p:bldP spid="4" grpId="0" animBg="1"/>
      <p:bldP spid="7" grpId="0" animBg="1"/>
      <p:bldP spid="8" grpId="0" animBg="1"/>
      <p:bldP spid="9" grpId="0"/>
      <p:bldGraphic spid="10"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93186-4BA3-7FB5-33A4-517B36719C0F}"/>
              </a:ext>
            </a:extLst>
          </p:cNvPr>
          <p:cNvSpPr>
            <a:spLocks noGrp="1"/>
          </p:cNvSpPr>
          <p:nvPr>
            <p:ph type="title"/>
          </p:nvPr>
        </p:nvSpPr>
        <p:spPr/>
        <p:txBody>
          <a:bodyPr>
            <a:normAutofit/>
          </a:bodyPr>
          <a:lstStyle/>
          <a:p>
            <a:r>
              <a:rPr lang="en-US" sz="2800" dirty="0"/>
              <a:t>Executive summary</a:t>
            </a:r>
          </a:p>
        </p:txBody>
      </p:sp>
      <p:sp>
        <p:nvSpPr>
          <p:cNvPr id="3" name="Content Placeholder 2">
            <a:extLst>
              <a:ext uri="{FF2B5EF4-FFF2-40B4-BE49-F238E27FC236}">
                <a16:creationId xmlns:a16="http://schemas.microsoft.com/office/drawing/2014/main" id="{44DAAC71-CE49-A776-A5C4-7D90174781D9}"/>
              </a:ext>
            </a:extLst>
          </p:cNvPr>
          <p:cNvSpPr>
            <a:spLocks noGrp="1"/>
          </p:cNvSpPr>
          <p:nvPr>
            <p:ph idx="1"/>
          </p:nvPr>
        </p:nvSpPr>
        <p:spPr>
          <a:xfrm>
            <a:off x="533397" y="3635298"/>
            <a:ext cx="11125202" cy="2553629"/>
          </a:xfrm>
        </p:spPr>
        <p:txBody>
          <a:bodyPr>
            <a:normAutofit/>
          </a:bodyPr>
          <a:lstStyle/>
          <a:p>
            <a:pPr marL="0" indent="0" algn="ctr">
              <a:buNone/>
            </a:pPr>
            <a:endParaRPr lang="en-US" sz="2400" dirty="0"/>
          </a:p>
          <a:p>
            <a:pPr marL="0" indent="0" algn="ctr">
              <a:buNone/>
            </a:pPr>
            <a:r>
              <a:rPr lang="en-US" sz="2400" dirty="0"/>
              <a:t>MONITOR → INTERVENE → MEASURE → REFINE</a:t>
            </a:r>
          </a:p>
          <a:p>
            <a:pPr marL="0" indent="0" algn="ctr">
              <a:buNone/>
            </a:pPr>
            <a:r>
              <a:rPr lang="en-US" sz="2400" dirty="0"/>
              <a:t>Use predictive analytics to identify high-risk employees and prioritize targeted retention interventions.</a:t>
            </a:r>
          </a:p>
          <a:p>
            <a:pPr marL="0" indent="0" algn="ctr">
              <a:buNone/>
            </a:pPr>
            <a:endParaRPr lang="en-US" sz="2400" dirty="0"/>
          </a:p>
          <a:p>
            <a:pPr marL="0" indent="0" algn="ctr">
              <a:buNone/>
            </a:pPr>
            <a:endParaRPr lang="en-US" sz="2400" dirty="0"/>
          </a:p>
        </p:txBody>
      </p:sp>
      <p:sp>
        <p:nvSpPr>
          <p:cNvPr id="4" name="Rounded Rectangle 3">
            <a:extLst>
              <a:ext uri="{FF2B5EF4-FFF2-40B4-BE49-F238E27FC236}">
                <a16:creationId xmlns:a16="http://schemas.microsoft.com/office/drawing/2014/main" id="{FFDCCEF7-3FBD-AB69-F204-93121E5D23EF}"/>
              </a:ext>
            </a:extLst>
          </p:cNvPr>
          <p:cNvSpPr/>
          <p:nvPr/>
        </p:nvSpPr>
        <p:spPr>
          <a:xfrm>
            <a:off x="700667" y="1793062"/>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Identify</a:t>
            </a:r>
          </a:p>
          <a:p>
            <a:pPr algn="ctr"/>
            <a:r>
              <a:rPr lang="en-US" sz="1600" dirty="0"/>
              <a:t>870 employees analyzed</a:t>
            </a:r>
          </a:p>
          <a:p>
            <a:pPr algn="ctr"/>
            <a:r>
              <a:rPr lang="en-US" sz="1600" dirty="0"/>
              <a:t>16.1% Attrition</a:t>
            </a:r>
          </a:p>
        </p:txBody>
      </p:sp>
      <p:sp>
        <p:nvSpPr>
          <p:cNvPr id="5" name="Rounded Rectangle 4">
            <a:extLst>
              <a:ext uri="{FF2B5EF4-FFF2-40B4-BE49-F238E27FC236}">
                <a16:creationId xmlns:a16="http://schemas.microsoft.com/office/drawing/2014/main" id="{579B0C65-6B8F-B750-DE6E-4D94883DA3A9}"/>
              </a:ext>
            </a:extLst>
          </p:cNvPr>
          <p:cNvSpPr/>
          <p:nvPr/>
        </p:nvSpPr>
        <p:spPr>
          <a:xfrm>
            <a:off x="3602685" y="1793062"/>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Predict</a:t>
            </a:r>
          </a:p>
          <a:p>
            <a:pPr algn="ctr"/>
            <a:r>
              <a:rPr lang="en-US" sz="1600" dirty="0"/>
              <a:t>Logistic Regression</a:t>
            </a:r>
          </a:p>
        </p:txBody>
      </p:sp>
      <p:sp>
        <p:nvSpPr>
          <p:cNvPr id="6" name="Rounded Rectangle 5">
            <a:extLst>
              <a:ext uri="{FF2B5EF4-FFF2-40B4-BE49-F238E27FC236}">
                <a16:creationId xmlns:a16="http://schemas.microsoft.com/office/drawing/2014/main" id="{CEA13618-9162-ABD0-7291-24F1EE1C747B}"/>
              </a:ext>
            </a:extLst>
          </p:cNvPr>
          <p:cNvSpPr/>
          <p:nvPr/>
        </p:nvSpPr>
        <p:spPr>
          <a:xfrm>
            <a:off x="6504703" y="1793062"/>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Target</a:t>
            </a:r>
          </a:p>
          <a:p>
            <a:pPr algn="ctr"/>
            <a:r>
              <a:rPr lang="en-US" sz="1600" dirty="0"/>
              <a:t>64 of 300 Flagged</a:t>
            </a:r>
          </a:p>
        </p:txBody>
      </p:sp>
      <p:sp>
        <p:nvSpPr>
          <p:cNvPr id="7" name="Rounded Rectangle 6">
            <a:extLst>
              <a:ext uri="{FF2B5EF4-FFF2-40B4-BE49-F238E27FC236}">
                <a16:creationId xmlns:a16="http://schemas.microsoft.com/office/drawing/2014/main" id="{ADACAF6F-5E7A-2AD4-A0F5-F3BBAD36F69A}"/>
              </a:ext>
            </a:extLst>
          </p:cNvPr>
          <p:cNvSpPr/>
          <p:nvPr/>
        </p:nvSpPr>
        <p:spPr>
          <a:xfrm>
            <a:off x="9406721" y="1793062"/>
            <a:ext cx="1777226" cy="1429640"/>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u="sng" dirty="0"/>
              <a:t>Impact</a:t>
            </a:r>
          </a:p>
          <a:p>
            <a:pPr algn="ctr"/>
            <a:r>
              <a:rPr lang="en-US" sz="1600" dirty="0"/>
              <a:t>$2.13M Potential Net Savings</a:t>
            </a:r>
          </a:p>
        </p:txBody>
      </p:sp>
      <p:pic>
        <p:nvPicPr>
          <p:cNvPr id="15" name="Audio 14">
            <a:extLst>
              <a:ext uri="{FF2B5EF4-FFF2-40B4-BE49-F238E27FC236}">
                <a16:creationId xmlns:a16="http://schemas.microsoft.com/office/drawing/2014/main" id="{75096DB4-174B-DA5F-D122-F0B3126802E4}"/>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703787623"/>
      </p:ext>
    </p:extLst>
  </p:cSld>
  <p:clrMapOvr>
    <a:masterClrMapping/>
  </p:clrMapOvr>
  <mc:AlternateContent xmlns:mc="http://schemas.openxmlformats.org/markup-compatibility/2006">
    <mc:Choice xmlns:p14="http://schemas.microsoft.com/office/powerpoint/2010/main" Requires="p14">
      <p:transition spd="slow" p14:dur="2000" advTm="38987"/>
    </mc:Choice>
    <mc:Fallback>
      <p:transition spd="slow" advTm="389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animEffect transition="in" filter="dissolve">
                                      <p:cBhvr>
                                        <p:cTn id="35" dur="2000"/>
                                        <p:tgtEl>
                                          <p:spTgt spid="3">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dissolve">
                                      <p:cBhvr>
                                        <p:cTn id="4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5"/>
                </p:tgtEl>
              </p:cMediaNode>
            </p:audio>
          </p:childTnLst>
        </p:cTn>
      </p:par>
    </p:tnLst>
    <p:bldLst>
      <p:bldP spid="3" grpId="0" build="p"/>
      <p:bldP spid="4" grpId="0" animBg="1"/>
      <p:bldP spid="5" grpId="0" animBg="1"/>
      <p:bldP spid="6" grpId="0" animBg="1"/>
      <p:bldP spid="7"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8|3.6|5.1|6.2|5.9"/>
</p:tagLst>
</file>

<file path=ppt/tags/tag2.xml><?xml version="1.0" encoding="utf-8"?>
<p:tagLst xmlns:a="http://schemas.openxmlformats.org/drawingml/2006/main" xmlns:r="http://schemas.openxmlformats.org/officeDocument/2006/relationships" xmlns:p="http://schemas.openxmlformats.org/presentationml/2006/main">
  <p:tag name="TIMING" val="|13.6"/>
</p:tagLst>
</file>

<file path=ppt/tags/tag3.xml><?xml version="1.0" encoding="utf-8"?>
<p:tagLst xmlns:a="http://schemas.openxmlformats.org/drawingml/2006/main" xmlns:r="http://schemas.openxmlformats.org/officeDocument/2006/relationships" xmlns:p="http://schemas.openxmlformats.org/presentationml/2006/main">
  <p:tag name="TIMING" val="|4.6|8|6.4|7.2"/>
</p:tagLst>
</file>

<file path=ppt/tags/tag4.xml><?xml version="1.0" encoding="utf-8"?>
<p:tagLst xmlns:a="http://schemas.openxmlformats.org/drawingml/2006/main" xmlns:r="http://schemas.openxmlformats.org/officeDocument/2006/relationships" xmlns:p="http://schemas.openxmlformats.org/presentationml/2006/main">
  <p:tag name="TIMING" val="|9.4"/>
</p:tagLst>
</file>

<file path=ppt/tags/tag5.xml><?xml version="1.0" encoding="utf-8"?>
<p:tagLst xmlns:a="http://schemas.openxmlformats.org/drawingml/2006/main" xmlns:r="http://schemas.openxmlformats.org/officeDocument/2006/relationships" xmlns:p="http://schemas.openxmlformats.org/presentationml/2006/main">
  <p:tag name="TIMING" val="|6.3|17.4"/>
</p:tagLst>
</file>

<file path=ppt/tags/tag6.xml><?xml version="1.0" encoding="utf-8"?>
<p:tagLst xmlns:a="http://schemas.openxmlformats.org/drawingml/2006/main" xmlns:r="http://schemas.openxmlformats.org/officeDocument/2006/relationships" xmlns:p="http://schemas.openxmlformats.org/presentationml/2006/main">
  <p:tag name="TIMING" val="|7.7|12.2|3.9"/>
</p:tagLst>
</file>

<file path=ppt/tags/tag7.xml><?xml version="1.0" encoding="utf-8"?>
<p:tagLst xmlns:a="http://schemas.openxmlformats.org/drawingml/2006/main" xmlns:r="http://schemas.openxmlformats.org/officeDocument/2006/relationships" xmlns:p="http://schemas.openxmlformats.org/presentationml/2006/main">
  <p:tag name="TIMING" val="|10.5|8.5"/>
</p:tagLst>
</file>

<file path=ppt/tags/tag8.xml><?xml version="1.0" encoding="utf-8"?>
<p:tagLst xmlns:a="http://schemas.openxmlformats.org/drawingml/2006/main" xmlns:r="http://schemas.openxmlformats.org/officeDocument/2006/relationships" xmlns:p="http://schemas.openxmlformats.org/presentationml/2006/main">
  <p:tag name="TIMING" val="|23.5|6.8|22.7"/>
</p:tagLst>
</file>

<file path=ppt/tags/tag9.xml><?xml version="1.0" encoding="utf-8"?>
<p:tagLst xmlns:a="http://schemas.openxmlformats.org/drawingml/2006/main" xmlns:r="http://schemas.openxmlformats.org/officeDocument/2006/relationships" xmlns:p="http://schemas.openxmlformats.org/presentationml/2006/main">
  <p:tag name="TIMING" val="|1.8"/>
</p:tagLst>
</file>

<file path=ppt/tags/tag10.xml><?xml version="1.0" encoding="utf-8"?>
<p:tagLst xmlns:a="http://schemas.openxmlformats.org/drawingml/2006/main" xmlns:r="http://schemas.openxmlformats.org/officeDocument/2006/relationships" xmlns:p="http://schemas.openxmlformats.org/presentationml/2006/main">
  <p:tag name="TIMING" val="|2|9"/>
</p:tagLst>
</file>

<file path=ppt/tags/tag11.xml><?xml version="1.0" encoding="utf-8"?>
<p:tagLst xmlns:a="http://schemas.openxmlformats.org/drawingml/2006/main" xmlns:r="http://schemas.openxmlformats.org/officeDocument/2006/relationships" xmlns:p="http://schemas.openxmlformats.org/presentationml/2006/main">
  <p:tag name="TIMING" val="|5.1|2.6|3.7"/>
</p:tagLst>
</file>

<file path=ppt/tags/tag12.xml><?xml version="1.0" encoding="utf-8"?>
<p:tagLst xmlns:a="http://schemas.openxmlformats.org/drawingml/2006/main" xmlns:r="http://schemas.openxmlformats.org/officeDocument/2006/relationships" xmlns:p="http://schemas.openxmlformats.org/presentationml/2006/main">
  <p:tag name="TIMING" val="|4.9|6|1.1|5.3|3.9|3.3|3.3"/>
</p:tagLst>
</file>

<file path=ppt/tags/tag13.xml><?xml version="1.0" encoding="utf-8"?>
<p:tagLst xmlns:a="http://schemas.openxmlformats.org/drawingml/2006/main" xmlns:r="http://schemas.openxmlformats.org/officeDocument/2006/relationships" xmlns:p="http://schemas.openxmlformats.org/presentationml/2006/main">
  <p:tag name="TIMING" val="|6.4|4|5.5|6.7|6.7"/>
</p:tagLst>
</file>

<file path=ppt/tags/tag14.xml><?xml version="1.0" encoding="utf-8"?>
<p:tagLst xmlns:a="http://schemas.openxmlformats.org/drawingml/2006/main" xmlns:r="http://schemas.openxmlformats.org/officeDocument/2006/relationships" xmlns:p="http://schemas.openxmlformats.org/presentationml/2006/main">
  <p:tag name="TIMING" val="|1.6|5.1|6.2|6.1|6.2|6.2"/>
</p:tagLst>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9096</TotalTime>
  <Words>2401</Words>
  <Application>Microsoft Macintosh PowerPoint</Application>
  <PresentationFormat>Widescreen</PresentationFormat>
  <Paragraphs>267</Paragraphs>
  <Slides>15</Slides>
  <Notes>15</Notes>
  <HiddenSlides>0</HiddenSlides>
  <MMClips>15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Modulo</vt:lpstr>
      <vt:lpstr>Frito-lay DDSAnalytics: Employee attrition analysis &amp; Prediction </vt:lpstr>
      <vt:lpstr>Objective: Understand and Predict Employee Attrition</vt:lpstr>
      <vt:lpstr>Objective: Data Overview</vt:lpstr>
      <vt:lpstr>EDA: factors showing elevated attrition </vt:lpstr>
      <vt:lpstr>EDA: Top predictors of attrition</vt:lpstr>
      <vt:lpstr>EDA: top 3 factors</vt:lpstr>
      <vt:lpstr>EDA: KNN Model</vt:lpstr>
      <vt:lpstr>EDA: NB Model</vt:lpstr>
      <vt:lpstr>EDA: logistic regression model performance</vt:lpstr>
      <vt:lpstr>EDA: predictive modeling strategy</vt:lpstr>
      <vt:lpstr>EDA: predictive modeling strategy</vt:lpstr>
      <vt:lpstr>Competition prediction</vt:lpstr>
      <vt:lpstr>Financial impact: targeted retention creates Significant Potential Financial Value</vt:lpstr>
      <vt:lpstr>Targeted Retention Strategies Can Reduce Attrition risk</vt:lpstr>
      <vt:lpstr>Executive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siddhantankolekar@gmail.com</dc:creator>
  <cp:lastModifiedBy>siddhantankolekar@gmail.com</cp:lastModifiedBy>
  <cp:revision>55</cp:revision>
  <dcterms:created xsi:type="dcterms:W3CDTF">2026-10-19T21:30:57Z</dcterms:created>
  <dcterms:modified xsi:type="dcterms:W3CDTF">2026-10-26T05:07:49Z</dcterms:modified>
</cp:coreProperties>
</file>